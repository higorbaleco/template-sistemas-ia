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Poppins"/>
      <p:regular r:id="rId33"/>
      <p:bold r:id="rId34"/>
      <p:italic r:id="rId35"/>
      <p:boldItalic r:id="rId36"/>
    </p:embeddedFont>
    <p:embeddedFont>
      <p:font typeface="Poppins Light"/>
      <p:regular r:id="rId37"/>
      <p:bold r:id="rId38"/>
      <p:italic r:id="rId39"/>
      <p:boldItalic r:id="rId40"/>
    </p:embeddedFont>
    <p:embeddedFont>
      <p:font typeface="Poppins Medium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Light-boldItalic.fntdata"/><Relationship Id="rId20" Type="http://schemas.openxmlformats.org/officeDocument/2006/relationships/slide" Target="slides/slide15.xml"/><Relationship Id="rId42" Type="http://schemas.openxmlformats.org/officeDocument/2006/relationships/font" Target="fonts/PoppinsMedium-bold.fntdata"/><Relationship Id="rId41" Type="http://schemas.openxmlformats.org/officeDocument/2006/relationships/font" Target="fonts/PoppinsMedium-regular.fntdata"/><Relationship Id="rId22" Type="http://schemas.openxmlformats.org/officeDocument/2006/relationships/slide" Target="slides/slide17.xml"/><Relationship Id="rId44" Type="http://schemas.openxmlformats.org/officeDocument/2006/relationships/font" Target="fonts/PoppinsMedium-boldItalic.fntdata"/><Relationship Id="rId21" Type="http://schemas.openxmlformats.org/officeDocument/2006/relationships/slide" Target="slides/slide16.xml"/><Relationship Id="rId43" Type="http://schemas.openxmlformats.org/officeDocument/2006/relationships/font" Target="fonts/PoppinsMedium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oppins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oppins-italic.fntdata"/><Relationship Id="rId12" Type="http://schemas.openxmlformats.org/officeDocument/2006/relationships/slide" Target="slides/slide7.xml"/><Relationship Id="rId34" Type="http://schemas.openxmlformats.org/officeDocument/2006/relationships/font" Target="fonts/Poppins-bold.fntdata"/><Relationship Id="rId15" Type="http://schemas.openxmlformats.org/officeDocument/2006/relationships/slide" Target="slides/slide10.xml"/><Relationship Id="rId37" Type="http://schemas.openxmlformats.org/officeDocument/2006/relationships/font" Target="fonts/PoppinsLight-regular.fntdata"/><Relationship Id="rId14" Type="http://schemas.openxmlformats.org/officeDocument/2006/relationships/slide" Target="slides/slide9.xml"/><Relationship Id="rId36" Type="http://schemas.openxmlformats.org/officeDocument/2006/relationships/font" Target="fonts/Poppins-boldItalic.fntdata"/><Relationship Id="rId17" Type="http://schemas.openxmlformats.org/officeDocument/2006/relationships/slide" Target="slides/slide12.xml"/><Relationship Id="rId39" Type="http://schemas.openxmlformats.org/officeDocument/2006/relationships/font" Target="fonts/PoppinsLight-italic.fntdata"/><Relationship Id="rId16" Type="http://schemas.openxmlformats.org/officeDocument/2006/relationships/slide" Target="slides/slide11.xml"/><Relationship Id="rId38" Type="http://schemas.openxmlformats.org/officeDocument/2006/relationships/font" Target="fonts/PoppinsLigh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aada1480d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aada1480d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aada1480d6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aada1480d6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aada1480d6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aada1480d6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aada1480d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aada1480d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aada1480d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aada1480d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aada1480d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aada1480d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aada1480d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aada1480d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aada1480d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aada1480d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aada1480d6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aada1480d6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aada1480d6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aada1480d6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aada1480d6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aada1480d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aada1480d6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aada1480d6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aada1480d6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aada1480d6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aada1480d6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aada1480d6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aada1480d6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aada1480d6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aada1480d6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aada1480d6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aada1480d6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aada1480d6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aada1480d6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aada1480d6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aada1480d6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aada1480d6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aada1480d6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aada1480d6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aada1480d6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aada1480d6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aada1480d6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aada1480d6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aada1480d6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aada1480d6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aada1480d6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aada1480d6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aada1480d6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1aada1480d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aada1480d6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aada1480d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hyperlink" Target="https://www.whatsapp.com/legal.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11" Type="http://schemas.openxmlformats.org/officeDocument/2006/relationships/hyperlink" Target="http://conheca.z-api.io" TargetMode="External"/><Relationship Id="rId10" Type="http://schemas.openxmlformats.org/officeDocument/2006/relationships/hyperlink" Target="https://api.whatsapp.com/send?phone=5544997171553&amp;text=Higor%2C%20estou%20no%20site%20do%20Z-API.%20Tenho%20d%C3%BAvidas%20sobre" TargetMode="External"/><Relationship Id="rId12" Type="http://schemas.openxmlformats.org/officeDocument/2006/relationships/hyperlink" Target="https://calendly.com/higorplens/" TargetMode="External"/><Relationship Id="rId9" Type="http://schemas.openxmlformats.org/officeDocument/2006/relationships/hyperlink" Target="https://api.whatsapp.com/send/?phone=554498398733&amp;text&amp;type=phone_number&amp;app_absent=0" TargetMode="External"/><Relationship Id="rId5" Type="http://schemas.openxmlformats.org/officeDocument/2006/relationships/hyperlink" Target="https://app.z-api.io/" TargetMode="External"/><Relationship Id="rId6" Type="http://schemas.openxmlformats.org/officeDocument/2006/relationships/hyperlink" Target="https://developer.z-api.io/" TargetMode="External"/><Relationship Id="rId7" Type="http://schemas.openxmlformats.org/officeDocument/2006/relationships/hyperlink" Target="https://github.com/z-api" TargetMode="External"/><Relationship Id="rId8" Type="http://schemas.openxmlformats.org/officeDocument/2006/relationships/hyperlink" Target="https://app.swaggerhub.com/apis-docs/fourpixelit/Z-API/1.0.16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4">
            <a:alphaModFix/>
          </a:blip>
          <a:srcRect b="33832" l="7066" r="5260" t="38318"/>
          <a:stretch/>
        </p:blipFill>
        <p:spPr>
          <a:xfrm>
            <a:off x="2009338" y="1757725"/>
            <a:ext cx="5125325" cy="162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952525" y="1781300"/>
            <a:ext cx="7197000" cy="13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Somos a maior API de integração com o WhatsApp.</a:t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4"/>
          <p:cNvPicPr preferRelativeResize="0"/>
          <p:nvPr/>
        </p:nvPicPr>
        <p:blipFill rotWithShape="1">
          <a:blip r:embed="rId4">
            <a:alphaModFix/>
          </a:blip>
          <a:srcRect b="33832" l="7066" r="5260" t="38318"/>
          <a:stretch/>
        </p:blipFill>
        <p:spPr>
          <a:xfrm>
            <a:off x="2882350" y="536725"/>
            <a:ext cx="3379300" cy="10734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type="title"/>
          </p:nvPr>
        </p:nvSpPr>
        <p:spPr>
          <a:xfrm>
            <a:off x="1016500" y="3130900"/>
            <a:ext cx="69138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Uma solução  para Desenvolvedores Gestores de Automação e profissionais da Tecnologia.</a:t>
            </a:r>
            <a:endParaRPr b="1"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792700" y="1406250"/>
            <a:ext cx="7454100" cy="20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2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Entregamos a maior estabilidade em </a:t>
            </a:r>
            <a:r>
              <a:rPr b="1" lang="pt-BR" sz="32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API 's</a:t>
            </a:r>
            <a:r>
              <a:rPr b="1" lang="pt-BR" sz="32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 de WhatsApp do mercado. Como foco principal a alta disponibilidade!</a:t>
            </a:r>
            <a:endParaRPr b="1" sz="35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15"/>
          <p:cNvSpPr txBox="1"/>
          <p:nvPr>
            <p:ph type="title"/>
          </p:nvPr>
        </p:nvSpPr>
        <p:spPr>
          <a:xfrm>
            <a:off x="1345450" y="4229000"/>
            <a:ext cx="6196200" cy="371100"/>
          </a:xfrm>
          <a:prstGeom prst="rect">
            <a:avLst/>
          </a:prstGeom>
          <a:solidFill>
            <a:srgbClr val="5EFC8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Integre seu Software ao Z-API e dê asas à sua imaginção!</a:t>
            </a:r>
            <a:endParaRPr b="1"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4">
            <a:alphaModFix/>
          </a:blip>
          <a:srcRect b="25849" l="0" r="0" t="25854"/>
          <a:stretch/>
        </p:blipFill>
        <p:spPr>
          <a:xfrm>
            <a:off x="3956738" y="276250"/>
            <a:ext cx="1230514" cy="59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4294967295" type="title"/>
          </p:nvPr>
        </p:nvSpPr>
        <p:spPr>
          <a:xfrm>
            <a:off x="716500" y="872850"/>
            <a:ext cx="74541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NOSSOS DIFERENCIAIS</a:t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16"/>
          <p:cNvSpPr txBox="1"/>
          <p:nvPr>
            <p:ph idx="4294967295" type="title"/>
          </p:nvPr>
        </p:nvSpPr>
        <p:spPr>
          <a:xfrm>
            <a:off x="337600" y="2292700"/>
            <a:ext cx="4179000" cy="19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0"/>
              <a:buFont typeface="Poppins"/>
              <a:buChar char="●"/>
            </a:pPr>
            <a:r>
              <a:rPr b="1" lang="pt-BR" sz="12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 maior estabilidade do mercado</a:t>
            </a:r>
            <a:endParaRPr b="1" sz="12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0"/>
              <a:buFont typeface="Poppins"/>
              <a:buChar char="●"/>
            </a:pPr>
            <a:r>
              <a:rPr b="1" lang="pt-BR" sz="12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Alta disponibilidade </a:t>
            </a:r>
            <a:endParaRPr b="1" sz="12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0"/>
              <a:buFont typeface="Poppins"/>
              <a:buChar char="●"/>
            </a:pPr>
            <a:r>
              <a:rPr b="1" lang="pt-BR" sz="12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+15 micro-serviços de monitoramento</a:t>
            </a:r>
            <a:endParaRPr b="1" sz="12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0"/>
              <a:buFont typeface="Poppins"/>
              <a:buChar char="●"/>
            </a:pPr>
            <a:r>
              <a:rPr b="1" lang="pt-BR" sz="12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Contingência de servidores </a:t>
            </a:r>
            <a:endParaRPr b="1" sz="12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0"/>
              <a:buFont typeface="Poppins"/>
              <a:buChar char="●"/>
            </a:pPr>
            <a:r>
              <a:rPr b="1" lang="pt-BR" sz="12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Time de infraestrutura dedicado</a:t>
            </a:r>
            <a:endParaRPr b="1" sz="12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0"/>
              <a:buFont typeface="Poppins"/>
              <a:buChar char="●"/>
            </a:pPr>
            <a:r>
              <a:rPr b="1" lang="pt-BR" sz="12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Preço acessível </a:t>
            </a:r>
            <a:endParaRPr b="1" sz="12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0"/>
              <a:buFont typeface="Poppins"/>
              <a:buChar char="●"/>
            </a:pPr>
            <a:r>
              <a:rPr b="1" lang="pt-BR" sz="12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Pagamento em Real</a:t>
            </a:r>
            <a:endParaRPr b="1" sz="12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0"/>
              <a:buFont typeface="Poppins"/>
              <a:buChar char="●"/>
            </a:pPr>
            <a:r>
              <a:rPr b="1" lang="pt-BR" sz="12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Call’s de acompanhamento - Sucesso Cliente</a:t>
            </a:r>
            <a:endParaRPr b="1" sz="12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0"/>
              <a:buFont typeface="Poppins"/>
              <a:buChar char="●"/>
            </a:pPr>
            <a:r>
              <a:rPr b="1" lang="pt-BR" sz="12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Call’s de Hotseat sobre Marketing - CMO</a:t>
            </a:r>
            <a:endParaRPr b="1" sz="12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" name="Google Shape;75;p16"/>
          <p:cNvSpPr txBox="1"/>
          <p:nvPr>
            <p:ph idx="4294967295" type="title"/>
          </p:nvPr>
        </p:nvSpPr>
        <p:spPr>
          <a:xfrm>
            <a:off x="1790700" y="1421875"/>
            <a:ext cx="59112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Entregamos o que nenhum player do mercado entrega</a:t>
            </a:r>
            <a:endParaRPr b="1"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6"/>
          <p:cNvSpPr txBox="1"/>
          <p:nvPr>
            <p:ph idx="4294967295" type="title"/>
          </p:nvPr>
        </p:nvSpPr>
        <p:spPr>
          <a:xfrm>
            <a:off x="4516550" y="2267679"/>
            <a:ext cx="4350300" cy="23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0"/>
              <a:buFont typeface="Poppins"/>
              <a:buChar char="●"/>
            </a:pPr>
            <a:r>
              <a:rPr b="1" lang="pt-BR" sz="12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Suporte em PT-BR (horário comercial)</a:t>
            </a:r>
            <a:endParaRPr b="1" sz="12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0"/>
              <a:buFont typeface="Poppins"/>
              <a:buChar char="●"/>
            </a:pPr>
            <a:r>
              <a:rPr b="1" lang="pt-BR" sz="12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Atendimento VIP para Parceiros</a:t>
            </a:r>
            <a:endParaRPr b="1" sz="12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0"/>
              <a:buFont typeface="Poppins"/>
              <a:buChar char="●"/>
            </a:pPr>
            <a:r>
              <a:rPr b="1" lang="pt-BR" sz="12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Comunidade no WhatsApp - Clientes</a:t>
            </a:r>
            <a:endParaRPr b="1" sz="12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0"/>
              <a:buFont typeface="Poppins"/>
              <a:buChar char="●"/>
            </a:pPr>
            <a:r>
              <a:rPr b="1" lang="pt-BR" sz="12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Comunidade no WhatsApp - Parceiros</a:t>
            </a:r>
            <a:endParaRPr b="1" sz="12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0"/>
              <a:buFont typeface="Poppins"/>
              <a:buChar char="●"/>
            </a:pPr>
            <a:r>
              <a:rPr b="1" lang="pt-BR" sz="12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Comunidade no WhatsApp - Afiliados</a:t>
            </a:r>
            <a:endParaRPr b="1" sz="12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0"/>
              <a:buFont typeface="Poppins"/>
              <a:buChar char="●"/>
            </a:pPr>
            <a:r>
              <a:rPr b="1" lang="pt-BR" sz="12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Grupo exclusivo de atendimento - Parceiros</a:t>
            </a:r>
            <a:endParaRPr b="1" sz="12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0"/>
              <a:buFont typeface="Poppins"/>
              <a:buChar char="●"/>
            </a:pPr>
            <a:r>
              <a:rPr b="1" lang="pt-BR" sz="12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Preço diferenciado para parceiros </a:t>
            </a:r>
            <a:endParaRPr b="1" sz="12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0"/>
              <a:buFont typeface="Poppins"/>
              <a:buChar char="●"/>
            </a:pPr>
            <a:r>
              <a:rPr b="1" lang="pt-BR" sz="12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Call’s com o time técnico para Parceiros</a:t>
            </a:r>
            <a:endParaRPr b="1" sz="12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40"/>
              <a:buFont typeface="Poppins"/>
              <a:buChar char="●"/>
            </a:pPr>
            <a:r>
              <a:rPr b="1" lang="pt-BR" sz="12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Call’s de consultoria de Vendas - Comercial</a:t>
            </a:r>
            <a:endParaRPr b="1" sz="12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4">
            <a:alphaModFix/>
          </a:blip>
          <a:srcRect b="25560" l="0" r="1980" t="27098"/>
          <a:stretch/>
        </p:blipFill>
        <p:spPr>
          <a:xfrm>
            <a:off x="3956738" y="200050"/>
            <a:ext cx="1230514" cy="59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716500" y="720450"/>
            <a:ext cx="74541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Alguns Cases de Sucesso</a:t>
            </a:r>
            <a:endParaRPr b="1" sz="39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" name="Google Shape;83;p17"/>
          <p:cNvSpPr txBox="1"/>
          <p:nvPr>
            <p:ph type="title"/>
          </p:nvPr>
        </p:nvSpPr>
        <p:spPr>
          <a:xfrm>
            <a:off x="1421650" y="1396350"/>
            <a:ext cx="6196200" cy="371100"/>
          </a:xfrm>
          <a:prstGeom prst="rect">
            <a:avLst/>
          </a:prstGeom>
          <a:solidFill>
            <a:srgbClr val="5EFC8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Conheça alguns clientes que confiam no nosso trabalho</a:t>
            </a:r>
            <a:endParaRPr b="1"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4">
            <a:alphaModFix/>
          </a:blip>
          <a:srcRect b="36497" l="5769" r="6427" t="34014"/>
          <a:stretch/>
        </p:blipFill>
        <p:spPr>
          <a:xfrm>
            <a:off x="547363" y="2474850"/>
            <a:ext cx="8049274" cy="152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4294967295" type="title"/>
          </p:nvPr>
        </p:nvSpPr>
        <p:spPr>
          <a:xfrm>
            <a:off x="716500" y="872850"/>
            <a:ext cx="74541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 QUE FAZER COM O Z-API</a:t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" name="Google Shape;90;p18"/>
          <p:cNvSpPr txBox="1"/>
          <p:nvPr>
            <p:ph idx="4294967295" type="title"/>
          </p:nvPr>
        </p:nvSpPr>
        <p:spPr>
          <a:xfrm>
            <a:off x="864100" y="2521300"/>
            <a:ext cx="3844500" cy="12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369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40"/>
              <a:buFont typeface="Poppins"/>
              <a:buChar char="●"/>
            </a:pPr>
            <a:r>
              <a:rPr b="1" lang="pt-BR" sz="13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Envio de mensagens</a:t>
            </a:r>
            <a:endParaRPr b="1" sz="13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369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40"/>
              <a:buFont typeface="Poppins"/>
              <a:buChar char="●"/>
            </a:pPr>
            <a:r>
              <a:rPr b="1" lang="pt-BR" sz="13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Disparo de aniversariantes</a:t>
            </a:r>
            <a:endParaRPr b="1" sz="13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369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40"/>
              <a:buFont typeface="Poppins"/>
              <a:buChar char="●"/>
            </a:pPr>
            <a:r>
              <a:rPr b="1" lang="pt-BR" sz="13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Bot de atendimento automático</a:t>
            </a:r>
            <a:endParaRPr b="1" sz="13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369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40"/>
              <a:buFont typeface="Poppins"/>
              <a:buChar char="●"/>
            </a:pPr>
            <a:r>
              <a:rPr b="1" lang="pt-BR" sz="13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Gerenciamento de Grupos</a:t>
            </a:r>
            <a:endParaRPr b="1" sz="13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369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40"/>
              <a:buFont typeface="Poppins"/>
              <a:buChar char="●"/>
            </a:pPr>
            <a:r>
              <a:rPr b="1" lang="pt-BR" sz="13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Envios de boletos e cobranças</a:t>
            </a:r>
            <a:endParaRPr b="1" sz="13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91;p18"/>
          <p:cNvSpPr txBox="1"/>
          <p:nvPr>
            <p:ph idx="4294967295" type="title"/>
          </p:nvPr>
        </p:nvSpPr>
        <p:spPr>
          <a:xfrm>
            <a:off x="844950" y="1574275"/>
            <a:ext cx="7454100" cy="4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Conheça tudo o que nossos clientes já fizeram utilizando nossa api:</a:t>
            </a:r>
            <a:endParaRPr b="1"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Google Shape;92;p18"/>
          <p:cNvSpPr txBox="1"/>
          <p:nvPr>
            <p:ph idx="4294967295" type="title"/>
          </p:nvPr>
        </p:nvSpPr>
        <p:spPr>
          <a:xfrm>
            <a:off x="4800600" y="2521300"/>
            <a:ext cx="3844500" cy="23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369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40"/>
              <a:buFont typeface="Poppins"/>
              <a:buChar char="●"/>
            </a:pPr>
            <a:r>
              <a:rPr b="1" lang="pt-BR" sz="13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Campanhas de marketing</a:t>
            </a:r>
            <a:endParaRPr b="1" sz="13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369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40"/>
              <a:buFont typeface="Poppins"/>
              <a:buChar char="●"/>
            </a:pPr>
            <a:r>
              <a:rPr b="1" lang="pt-BR" sz="13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Rastreio de encomendas</a:t>
            </a:r>
            <a:endParaRPr b="1" sz="13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369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40"/>
              <a:buFont typeface="Poppins"/>
              <a:buChar char="●"/>
            </a:pPr>
            <a:r>
              <a:rPr b="1" lang="pt-BR" sz="13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Notificações via Whatsapp</a:t>
            </a:r>
            <a:endParaRPr b="1" sz="13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369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40"/>
              <a:buFont typeface="Poppins"/>
              <a:buChar char="●"/>
            </a:pPr>
            <a:r>
              <a:rPr b="1" lang="pt-BR" sz="13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Gerenciamento de filas</a:t>
            </a:r>
            <a:endParaRPr b="1" sz="13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369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40"/>
              <a:buFont typeface="Poppins"/>
              <a:buChar char="●"/>
            </a:pPr>
            <a:r>
              <a:rPr b="1" lang="pt-BR" sz="134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Envio de acessos </a:t>
            </a:r>
            <a:endParaRPr b="1" sz="134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 rotWithShape="1">
          <a:blip r:embed="rId4">
            <a:alphaModFix/>
          </a:blip>
          <a:srcRect b="25560" l="0" r="1980" t="27098"/>
          <a:stretch/>
        </p:blipFill>
        <p:spPr>
          <a:xfrm>
            <a:off x="3956738" y="200050"/>
            <a:ext cx="1230514" cy="59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852300" y="2154600"/>
            <a:ext cx="74394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Como funciona o Z-API</a:t>
            </a:r>
            <a:endParaRPr b="1" sz="4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9" name="Google Shape;99;p19"/>
          <p:cNvPicPr preferRelativeResize="0"/>
          <p:nvPr/>
        </p:nvPicPr>
        <p:blipFill rotWithShape="1">
          <a:blip r:embed="rId4">
            <a:alphaModFix/>
          </a:blip>
          <a:srcRect b="25560" l="0" r="1980" t="27098"/>
          <a:stretch/>
        </p:blipFill>
        <p:spPr>
          <a:xfrm>
            <a:off x="3708281" y="841125"/>
            <a:ext cx="1727421" cy="83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4294967295" type="title"/>
          </p:nvPr>
        </p:nvSpPr>
        <p:spPr>
          <a:xfrm>
            <a:off x="792700" y="1177650"/>
            <a:ext cx="74541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3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 que é Z-API ?</a:t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20"/>
          <p:cNvSpPr txBox="1"/>
          <p:nvPr>
            <p:ph idx="4294967295" type="title"/>
          </p:nvPr>
        </p:nvSpPr>
        <p:spPr>
          <a:xfrm>
            <a:off x="1220650" y="2132725"/>
            <a:ext cx="6445800" cy="19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Somos </a:t>
            </a:r>
            <a:r>
              <a:rPr lang="pt-BR" sz="2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um serviço </a:t>
            </a:r>
            <a:r>
              <a:rPr b="1" lang="pt-BR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RestFul</a:t>
            </a:r>
            <a:r>
              <a:rPr lang="pt-BR" sz="2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que provê uma </a:t>
            </a:r>
            <a:r>
              <a:rPr b="1" lang="pt-BR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API</a:t>
            </a:r>
            <a:r>
              <a:rPr lang="pt-BR" sz="2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que permite que você interaja com seu </a:t>
            </a:r>
            <a:r>
              <a:rPr b="1" lang="pt-BR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Whatsapp</a:t>
            </a:r>
            <a:r>
              <a:rPr lang="pt-BR" sz="2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através de uma API simples e intuitiva, além de </a:t>
            </a:r>
            <a:r>
              <a:rPr b="1" lang="pt-BR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webhooks</a:t>
            </a:r>
            <a:r>
              <a:rPr lang="pt-BR" sz="2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para te avisar sobre interações com seu número.</a:t>
            </a:r>
            <a:endParaRPr sz="2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06" name="Google Shape;106;p20"/>
          <p:cNvPicPr preferRelativeResize="0"/>
          <p:nvPr/>
        </p:nvPicPr>
        <p:blipFill rotWithShape="1">
          <a:blip r:embed="rId4">
            <a:alphaModFix/>
          </a:blip>
          <a:srcRect b="25560" l="0" r="1980" t="27098"/>
          <a:stretch/>
        </p:blipFill>
        <p:spPr>
          <a:xfrm>
            <a:off x="3956738" y="200050"/>
            <a:ext cx="1230514" cy="59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idx="4294967295" type="title"/>
          </p:nvPr>
        </p:nvSpPr>
        <p:spPr>
          <a:xfrm>
            <a:off x="792700" y="872850"/>
            <a:ext cx="74541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Quem pode utilizar ?</a:t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21"/>
          <p:cNvSpPr txBox="1"/>
          <p:nvPr>
            <p:ph idx="4294967295" type="title"/>
          </p:nvPr>
        </p:nvSpPr>
        <p:spPr>
          <a:xfrm>
            <a:off x="1144450" y="2232125"/>
            <a:ext cx="6445800" cy="23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Light"/>
              <a:buChar char="●"/>
            </a:pP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Programadores</a:t>
            </a:r>
            <a:r>
              <a:rPr lang="pt-BR" sz="14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com conhecimentos em API's RestFul. Se você não é, mas conhece alguém com estas competências, já podem integrar!</a:t>
            </a:r>
            <a:endParaRPr sz="14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Light"/>
              <a:buChar char="●"/>
            </a:pP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Utilizadores</a:t>
            </a:r>
            <a:r>
              <a:rPr lang="pt-BR" sz="14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de </a:t>
            </a: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soluções de terceiros </a:t>
            </a:r>
            <a:r>
              <a:rPr lang="pt-BR" sz="14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que </a:t>
            </a: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permitam</a:t>
            </a:r>
            <a:r>
              <a:rPr lang="pt-BR" sz="14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integração</a:t>
            </a:r>
            <a:r>
              <a:rPr lang="pt-BR" sz="14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 Z-API</a:t>
            </a:r>
            <a:endParaRPr b="1"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Light"/>
              <a:buChar char="●"/>
            </a:pP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Gestores de automações</a:t>
            </a:r>
            <a:r>
              <a:rPr lang="pt-BR" sz="14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, mentores de comunidades de automação e com conhecimento sobre automações via API.</a:t>
            </a:r>
            <a:endParaRPr sz="14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 rotWithShape="1">
          <a:blip r:embed="rId4">
            <a:alphaModFix/>
          </a:blip>
          <a:srcRect b="25560" l="0" r="1980" t="27098"/>
          <a:stretch/>
        </p:blipFill>
        <p:spPr>
          <a:xfrm>
            <a:off x="3956738" y="200050"/>
            <a:ext cx="1230514" cy="5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1"/>
          <p:cNvSpPr txBox="1"/>
          <p:nvPr>
            <p:ph idx="4294967295" type="title"/>
          </p:nvPr>
        </p:nvSpPr>
        <p:spPr>
          <a:xfrm>
            <a:off x="1296850" y="1701150"/>
            <a:ext cx="6445800" cy="4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Não temos restrições quanto a utilização, mas geralmente são públicos bem distintos que utilizam nossos serviços, desde que tenha um conhecimento sobre o assunto. São eles</a:t>
            </a:r>
            <a:endParaRPr b="1"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852300" y="2154600"/>
            <a:ext cx="7439400" cy="14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Vai dar certo para o seu negócio?</a:t>
            </a:r>
            <a:endParaRPr b="1" sz="4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0" name="Google Shape;120;p22"/>
          <p:cNvPicPr preferRelativeResize="0"/>
          <p:nvPr/>
        </p:nvPicPr>
        <p:blipFill rotWithShape="1">
          <a:blip r:embed="rId4">
            <a:alphaModFix/>
          </a:blip>
          <a:srcRect b="25560" l="0" r="1980" t="27098"/>
          <a:stretch/>
        </p:blipFill>
        <p:spPr>
          <a:xfrm>
            <a:off x="3708281" y="841125"/>
            <a:ext cx="1727421" cy="83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idx="4294967295" type="title"/>
          </p:nvPr>
        </p:nvSpPr>
        <p:spPr>
          <a:xfrm>
            <a:off x="792700" y="872850"/>
            <a:ext cx="74541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Sim, caso tenha…</a:t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" name="Google Shape;126;p23"/>
          <p:cNvSpPr txBox="1"/>
          <p:nvPr>
            <p:ph idx="4294967295" type="title"/>
          </p:nvPr>
        </p:nvSpPr>
        <p:spPr>
          <a:xfrm>
            <a:off x="626175" y="2079725"/>
            <a:ext cx="7620600" cy="17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 Light"/>
              <a:buChar char="●"/>
            </a:pP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Uma empresa de T.I que possuem Dev’s no time</a:t>
            </a:r>
            <a:endParaRPr b="1"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</a:pP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Uma empresa de Automação Comercial</a:t>
            </a:r>
            <a:endParaRPr b="1"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</a:pP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Um Software / SAAS </a:t>
            </a:r>
            <a:endParaRPr b="1"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</a:pP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Um ERP, CRM, Chatbot, Checkout, Plataforma, App</a:t>
            </a:r>
            <a:endParaRPr b="1"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</a:pP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Uma empresa de Tecnologia </a:t>
            </a:r>
            <a:endParaRPr b="1"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</a:pP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Agência de Automação para Negócios / Com técnico interno</a:t>
            </a:r>
            <a:endParaRPr b="1"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</a:pP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Conhecimento sobre programação / Desenvolvimento </a:t>
            </a:r>
            <a:endParaRPr b="1"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</a:pP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Expertise em integrações via API / Webhooks e assuntos técnicos</a:t>
            </a:r>
            <a:endParaRPr b="1"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7" name="Google Shape;127;p23"/>
          <p:cNvPicPr preferRelativeResize="0"/>
          <p:nvPr/>
        </p:nvPicPr>
        <p:blipFill rotWithShape="1">
          <a:blip r:embed="rId4">
            <a:alphaModFix/>
          </a:blip>
          <a:srcRect b="25560" l="0" r="1980" t="27098"/>
          <a:stretch/>
        </p:blipFill>
        <p:spPr>
          <a:xfrm>
            <a:off x="3956738" y="200050"/>
            <a:ext cx="1230514" cy="59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852300" y="2154600"/>
            <a:ext cx="74394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Como começar agora!</a:t>
            </a:r>
            <a:endParaRPr b="1" sz="4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3" name="Google Shape;133;p24"/>
          <p:cNvPicPr preferRelativeResize="0"/>
          <p:nvPr/>
        </p:nvPicPr>
        <p:blipFill rotWithShape="1">
          <a:blip r:embed="rId4">
            <a:alphaModFix/>
          </a:blip>
          <a:srcRect b="25560" l="0" r="1980" t="27098"/>
          <a:stretch/>
        </p:blipFill>
        <p:spPr>
          <a:xfrm>
            <a:off x="3708281" y="841125"/>
            <a:ext cx="1727421" cy="83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idx="4294967295" type="title"/>
          </p:nvPr>
        </p:nvSpPr>
        <p:spPr>
          <a:xfrm>
            <a:off x="792700" y="872850"/>
            <a:ext cx="74541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Os Passos principais:</a:t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9" name="Google Shape;139;p25"/>
          <p:cNvPicPr preferRelativeResize="0"/>
          <p:nvPr/>
        </p:nvPicPr>
        <p:blipFill rotWithShape="1">
          <a:blip r:embed="rId4">
            <a:alphaModFix/>
          </a:blip>
          <a:srcRect b="25560" l="0" r="1980" t="27098"/>
          <a:stretch/>
        </p:blipFill>
        <p:spPr>
          <a:xfrm>
            <a:off x="3956738" y="200050"/>
            <a:ext cx="1230514" cy="5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 txBox="1"/>
          <p:nvPr>
            <p:ph idx="4294967295" type="title"/>
          </p:nvPr>
        </p:nvSpPr>
        <p:spPr>
          <a:xfrm>
            <a:off x="2212650" y="2229850"/>
            <a:ext cx="4718700" cy="16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AutoNum type="arabicPeriod"/>
            </a:pP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Acesse o painel e crie sua conta</a:t>
            </a:r>
            <a:endParaRPr b="1"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AutoNum type="arabicPeriod"/>
            </a:pP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Vá em instâncias e crie sua primeira</a:t>
            </a:r>
            <a:endParaRPr b="1"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AutoNum type="arabicPeriod"/>
            </a:pP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Leia o QR Code e conecte seu número</a:t>
            </a:r>
            <a:endParaRPr b="1"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AutoNum type="arabicPeriod"/>
            </a:pP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Veja a documentação para integrar</a:t>
            </a:r>
            <a:endParaRPr b="1"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AutoNum type="arabicPeriod"/>
            </a:pP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Comece seus testes por 2 dias</a:t>
            </a:r>
            <a:endParaRPr b="1"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AutoNum type="arabicPeriod"/>
            </a:pP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Pronto! Agora é só contratar uma instância</a:t>
            </a:r>
            <a:endParaRPr b="1"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852300" y="2154600"/>
            <a:ext cx="74394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 se eu não gostar do Z-API ?</a:t>
            </a:r>
            <a:endParaRPr b="1" sz="4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6"/>
          <p:cNvPicPr preferRelativeResize="0"/>
          <p:nvPr/>
        </p:nvPicPr>
        <p:blipFill rotWithShape="1">
          <a:blip r:embed="rId4">
            <a:alphaModFix/>
          </a:blip>
          <a:srcRect b="25560" l="0" r="1980" t="27098"/>
          <a:stretch/>
        </p:blipFill>
        <p:spPr>
          <a:xfrm>
            <a:off x="3708281" y="841125"/>
            <a:ext cx="1727421" cy="83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4294967295" type="title"/>
          </p:nvPr>
        </p:nvSpPr>
        <p:spPr>
          <a:xfrm>
            <a:off x="792700" y="872850"/>
            <a:ext cx="74541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Política de Reembolso</a:t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3" name="Google Shape;153;p27"/>
          <p:cNvPicPr preferRelativeResize="0"/>
          <p:nvPr/>
        </p:nvPicPr>
        <p:blipFill rotWithShape="1">
          <a:blip r:embed="rId4">
            <a:alphaModFix/>
          </a:blip>
          <a:srcRect b="25560" l="0" r="1980" t="27098"/>
          <a:stretch/>
        </p:blipFill>
        <p:spPr>
          <a:xfrm>
            <a:off x="3956738" y="200050"/>
            <a:ext cx="1230514" cy="5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7"/>
          <p:cNvSpPr txBox="1"/>
          <p:nvPr>
            <p:ph idx="4294967295" type="title"/>
          </p:nvPr>
        </p:nvSpPr>
        <p:spPr>
          <a:xfrm>
            <a:off x="916450" y="1703450"/>
            <a:ext cx="7387800" cy="6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Nós entendemos que o Z-API pode parecer complexo na sua implementação(de fato é para quem não tem conhecimento técnico) portanto caso tenha visto que o Z-API pode fazer sentido mas ainda não tem certeza.:</a:t>
            </a:r>
            <a:endParaRPr sz="1200">
              <a:solidFill>
                <a:srgbClr val="5EFC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156;p27"/>
          <p:cNvSpPr txBox="1"/>
          <p:nvPr>
            <p:ph idx="4294967295" type="title"/>
          </p:nvPr>
        </p:nvSpPr>
        <p:spPr>
          <a:xfrm>
            <a:off x="1138725" y="2495550"/>
            <a:ext cx="6702600" cy="9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Disponibilizamos </a:t>
            </a:r>
            <a:r>
              <a:rPr b="1" lang="pt-BR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 dias LIVRES de Testes</a:t>
            </a:r>
            <a:r>
              <a:rPr lang="pt-BR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para você!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Temos um </a:t>
            </a:r>
            <a:r>
              <a:rPr b="1" lang="pt-BR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time de suporte para ajudá-lo(a) </a:t>
            </a:r>
            <a:r>
              <a:rPr lang="pt-BR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 ver se tem sinergia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Nosso </a:t>
            </a:r>
            <a:r>
              <a:rPr b="1" lang="pt-BR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time comercial disponível </a:t>
            </a:r>
            <a:r>
              <a:rPr lang="pt-BR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para esclarecer se vai dar certo para ti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Disponibilizamos uma </a:t>
            </a:r>
            <a:r>
              <a:rPr b="1" lang="pt-BR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documentação completa </a:t>
            </a:r>
            <a:r>
              <a:rPr lang="pt-BR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para te orientar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7" name="Google Shape;157;p27"/>
          <p:cNvSpPr txBox="1"/>
          <p:nvPr>
            <p:ph idx="4294967295" type="title"/>
          </p:nvPr>
        </p:nvSpPr>
        <p:spPr>
          <a:xfrm>
            <a:off x="762975" y="3541750"/>
            <a:ext cx="74541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 se mesmo assim você contratar e ver que não faz sentido…</a:t>
            </a:r>
            <a:endParaRPr b="1"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27"/>
          <p:cNvSpPr txBox="1"/>
          <p:nvPr>
            <p:ph idx="4294967295" type="title"/>
          </p:nvPr>
        </p:nvSpPr>
        <p:spPr>
          <a:xfrm>
            <a:off x="762975" y="3846550"/>
            <a:ext cx="74541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rgbClr val="5EFC8D"/>
                </a:solidFill>
                <a:latin typeface="Poppins"/>
                <a:ea typeface="Poppins"/>
                <a:cs typeface="Poppins"/>
                <a:sym typeface="Poppins"/>
              </a:rPr>
              <a:t>Nós te reembolsamos se solicitar antes dos 7 dias!</a:t>
            </a:r>
            <a:endParaRPr b="1" sz="1500">
              <a:solidFill>
                <a:srgbClr val="5EFC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idx="4294967295" type="title"/>
          </p:nvPr>
        </p:nvSpPr>
        <p:spPr>
          <a:xfrm>
            <a:off x="792700" y="872850"/>
            <a:ext cx="74541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Limites de envios</a:t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4" name="Google Shape;164;p28"/>
          <p:cNvPicPr preferRelativeResize="0"/>
          <p:nvPr/>
        </p:nvPicPr>
        <p:blipFill rotWithShape="1">
          <a:blip r:embed="rId4">
            <a:alphaModFix/>
          </a:blip>
          <a:srcRect b="25560" l="0" r="1980" t="27098"/>
          <a:stretch/>
        </p:blipFill>
        <p:spPr>
          <a:xfrm>
            <a:off x="3956738" y="200050"/>
            <a:ext cx="1230514" cy="5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8"/>
          <p:cNvSpPr txBox="1"/>
          <p:nvPr>
            <p:ph idx="4294967295" type="title"/>
          </p:nvPr>
        </p:nvSpPr>
        <p:spPr>
          <a:xfrm>
            <a:off x="1326875" y="2229850"/>
            <a:ext cx="6351000" cy="16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Nós </a:t>
            </a: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NÃO TEMOS LIMITE</a:t>
            </a:r>
            <a:r>
              <a:rPr lang="pt-BR" sz="14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para número de mensagens enviadas! Mas é importante você entender que está utilizando uma sessão do Whatsapp Web, então o padrão de utilização precisa ser compatível, além disso sempre recomendamos que você leia atentamente as políticas estabelecidas pelo próprio </a:t>
            </a: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Whatsapp</a:t>
            </a:r>
            <a:r>
              <a:rPr lang="pt-BR" sz="14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em sua pagina oficial </a:t>
            </a:r>
            <a:r>
              <a:rPr b="1" lang="pt-BR" sz="1400" u="sng">
                <a:solidFill>
                  <a:srgbClr val="5EFC8D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https://www.whatsapp.com/legal.</a:t>
            </a:r>
            <a:endParaRPr b="1" sz="1400">
              <a:solidFill>
                <a:srgbClr val="5EFC8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852300" y="2154600"/>
            <a:ext cx="74394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Modelos comerciais</a:t>
            </a:r>
            <a:endParaRPr b="1" sz="4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2" name="Google Shape;172;p29"/>
          <p:cNvPicPr preferRelativeResize="0"/>
          <p:nvPr/>
        </p:nvPicPr>
        <p:blipFill rotWithShape="1">
          <a:blip r:embed="rId4">
            <a:alphaModFix/>
          </a:blip>
          <a:srcRect b="25560" l="0" r="1980" t="27098"/>
          <a:stretch/>
        </p:blipFill>
        <p:spPr>
          <a:xfrm>
            <a:off x="3708281" y="841125"/>
            <a:ext cx="1727421" cy="83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idx="4294967295" type="title"/>
          </p:nvPr>
        </p:nvSpPr>
        <p:spPr>
          <a:xfrm>
            <a:off x="792700" y="872850"/>
            <a:ext cx="74541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1- Interno</a:t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8" name="Google Shape;178;p30"/>
          <p:cNvPicPr preferRelativeResize="0"/>
          <p:nvPr/>
        </p:nvPicPr>
        <p:blipFill rotWithShape="1">
          <a:blip r:embed="rId4">
            <a:alphaModFix/>
          </a:blip>
          <a:srcRect b="25560" l="0" r="1980" t="27098"/>
          <a:stretch/>
        </p:blipFill>
        <p:spPr>
          <a:xfrm>
            <a:off x="3956738" y="200050"/>
            <a:ext cx="1230514" cy="5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0"/>
          <p:cNvSpPr txBox="1"/>
          <p:nvPr>
            <p:ph idx="4294967295" type="title"/>
          </p:nvPr>
        </p:nvSpPr>
        <p:spPr>
          <a:xfrm>
            <a:off x="930850" y="1986750"/>
            <a:ext cx="7177800" cy="16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Caso opte dessa </a:t>
            </a:r>
            <a:r>
              <a:rPr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forma, você</a:t>
            </a:r>
            <a:r>
              <a:rPr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utiliza para tarefas internas, pontuais e integra sua empresa para absorver o custo operacional de instância para o seu cliente.</a:t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Você se integra &gt; Leitura do QR Code &gt; Utiliza &gt; O Z-API cobra de você o pagamento referente a instância ou as instâncias</a:t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1" name="Google Shape;181;p30"/>
          <p:cNvSpPr txBox="1"/>
          <p:nvPr>
            <p:ph idx="4294967295" type="title"/>
          </p:nvPr>
        </p:nvSpPr>
        <p:spPr>
          <a:xfrm>
            <a:off x="830700" y="3593775"/>
            <a:ext cx="71778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Uso indicado: </a:t>
            </a:r>
            <a:r>
              <a:rPr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Desenvolvedor ou Gest. Automação que quer automatizar processos internos mas não comercializar o serviço apenas para uso interno.</a:t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716500" y="872850"/>
            <a:ext cx="74541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Vantagens</a:t>
            </a:r>
            <a:endParaRPr b="1" sz="26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7" name="Google Shape;187;p31"/>
          <p:cNvPicPr preferRelativeResize="0"/>
          <p:nvPr/>
        </p:nvPicPr>
        <p:blipFill rotWithShape="1">
          <a:blip r:embed="rId4">
            <a:alphaModFix/>
          </a:blip>
          <a:srcRect b="25849" l="0" r="0" t="25854"/>
          <a:stretch/>
        </p:blipFill>
        <p:spPr>
          <a:xfrm>
            <a:off x="3956738" y="200050"/>
            <a:ext cx="1230514" cy="5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1"/>
          <p:cNvSpPr txBox="1"/>
          <p:nvPr>
            <p:ph type="title"/>
          </p:nvPr>
        </p:nvSpPr>
        <p:spPr>
          <a:xfrm>
            <a:off x="716500" y="2777850"/>
            <a:ext cx="74541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Desv</a:t>
            </a:r>
            <a:r>
              <a:rPr b="1" lang="pt-BR" sz="26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antagens</a:t>
            </a:r>
            <a:endParaRPr b="1" sz="26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" name="Google Shape;189;p31"/>
          <p:cNvSpPr txBox="1"/>
          <p:nvPr>
            <p:ph type="title"/>
          </p:nvPr>
        </p:nvSpPr>
        <p:spPr>
          <a:xfrm>
            <a:off x="930850" y="1513900"/>
            <a:ext cx="7177800" cy="12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Testes internos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Integrações para funções internas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Trabalhos pontuais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Disparo de poucas mensagens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Não precisa criar um modelo de negócio para isso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0" name="Google Shape;190;p31"/>
          <p:cNvSpPr txBox="1"/>
          <p:nvPr>
            <p:ph type="title"/>
          </p:nvPr>
        </p:nvSpPr>
        <p:spPr>
          <a:xfrm>
            <a:off x="930850" y="3266500"/>
            <a:ext cx="7177800" cy="12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Baixa escala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Possibilidade de poucas mensagens sem bloqueio por não ter contingência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Não conseguir monetizar sobre a integração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idx="4294967295" type="title"/>
          </p:nvPr>
        </p:nvSpPr>
        <p:spPr>
          <a:xfrm>
            <a:off x="792700" y="872850"/>
            <a:ext cx="74541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b="1" lang="pt-BR" sz="3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- Indicação</a:t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6" name="Google Shape;196;p32"/>
          <p:cNvPicPr preferRelativeResize="0"/>
          <p:nvPr/>
        </p:nvPicPr>
        <p:blipFill rotWithShape="1">
          <a:blip r:embed="rId4">
            <a:alphaModFix/>
          </a:blip>
          <a:srcRect b="25560" l="0" r="1980" t="27098"/>
          <a:stretch/>
        </p:blipFill>
        <p:spPr>
          <a:xfrm>
            <a:off x="3956738" y="200050"/>
            <a:ext cx="1230514" cy="5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2"/>
          <p:cNvSpPr txBox="1"/>
          <p:nvPr>
            <p:ph idx="4294967295" type="title"/>
          </p:nvPr>
        </p:nvSpPr>
        <p:spPr>
          <a:xfrm>
            <a:off x="930850" y="1986750"/>
            <a:ext cx="7177800" cy="16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Caso veja um modelo de negócios que tenha sinergia entre nós, você integra sua automação ou software deixa tudo 100% funcional e </a:t>
            </a: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indica</a:t>
            </a:r>
            <a:r>
              <a:rPr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aos seus clientes para que eles </a:t>
            </a: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contratem a gente sozinhos </a:t>
            </a:r>
            <a:r>
              <a:rPr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 só passe o ID e Token da integração para você.</a:t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Você se integra &gt; Indica o Z-API &gt; Seu cliente contrata &gt; Ele nos paga &gt; Te passa token e ID &gt; Você instrui e orienta seu cliente sobre a integração.</a:t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p32"/>
          <p:cNvSpPr txBox="1"/>
          <p:nvPr>
            <p:ph idx="4294967295" type="title"/>
          </p:nvPr>
        </p:nvSpPr>
        <p:spPr>
          <a:xfrm>
            <a:off x="906900" y="3746175"/>
            <a:ext cx="71778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Uso indicado: </a:t>
            </a:r>
            <a:r>
              <a:rPr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Software house ou Afiliado que </a:t>
            </a: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não pretende</a:t>
            </a:r>
            <a:r>
              <a:rPr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cobrar o cliente sobre a api também, apenas indicar ele à utilizar a integração já feita por você.</a:t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type="title"/>
          </p:nvPr>
        </p:nvSpPr>
        <p:spPr>
          <a:xfrm>
            <a:off x="716500" y="872850"/>
            <a:ext cx="74541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Vantagens</a:t>
            </a:r>
            <a:endParaRPr b="1" sz="26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5" name="Google Shape;205;p33"/>
          <p:cNvPicPr preferRelativeResize="0"/>
          <p:nvPr/>
        </p:nvPicPr>
        <p:blipFill rotWithShape="1">
          <a:blip r:embed="rId4">
            <a:alphaModFix/>
          </a:blip>
          <a:srcRect b="25849" l="0" r="0" t="25854"/>
          <a:stretch/>
        </p:blipFill>
        <p:spPr>
          <a:xfrm>
            <a:off x="3956738" y="200050"/>
            <a:ext cx="1230514" cy="5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3"/>
          <p:cNvSpPr txBox="1"/>
          <p:nvPr>
            <p:ph type="title"/>
          </p:nvPr>
        </p:nvSpPr>
        <p:spPr>
          <a:xfrm>
            <a:off x="716500" y="2777850"/>
            <a:ext cx="74541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Desvantagens</a:t>
            </a:r>
            <a:endParaRPr b="1" sz="26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p33"/>
          <p:cNvSpPr txBox="1"/>
          <p:nvPr>
            <p:ph type="title"/>
          </p:nvPr>
        </p:nvSpPr>
        <p:spPr>
          <a:xfrm>
            <a:off x="930850" y="1513900"/>
            <a:ext cx="7177800" cy="12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Possibilidade de comissão caso seja um afiliado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Não precisa se comprometer com receber do cliente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Consegue disparar mais mensagens indicando clientes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Gera diferencial competitivo para sua ferramenta ou negócio 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Todas as Features e possibilidades do WhatsApp sem comercializar isso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33"/>
          <p:cNvSpPr txBox="1"/>
          <p:nvPr>
            <p:ph type="title"/>
          </p:nvPr>
        </p:nvSpPr>
        <p:spPr>
          <a:xfrm>
            <a:off x="930850" y="3418900"/>
            <a:ext cx="7177800" cy="12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Caso não seja afiliado, não recebe nenhuma vantagem monetária sobre isso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Não conseguir monetizar um % maior sobre cada cliente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Seu cliente pode ficar perdido no processo entre nós e sua integração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idx="4294967295" type="title"/>
          </p:nvPr>
        </p:nvSpPr>
        <p:spPr>
          <a:xfrm>
            <a:off x="792700" y="872850"/>
            <a:ext cx="74541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b="1" lang="pt-BR" sz="3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- Revenda Low Scale</a:t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4" name="Google Shape;214;p34"/>
          <p:cNvPicPr preferRelativeResize="0"/>
          <p:nvPr/>
        </p:nvPicPr>
        <p:blipFill rotWithShape="1">
          <a:blip r:embed="rId4">
            <a:alphaModFix/>
          </a:blip>
          <a:srcRect b="25560" l="0" r="1980" t="27098"/>
          <a:stretch/>
        </p:blipFill>
        <p:spPr>
          <a:xfrm>
            <a:off x="3956738" y="200050"/>
            <a:ext cx="1230514" cy="5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4"/>
          <p:cNvSpPr txBox="1"/>
          <p:nvPr>
            <p:ph idx="4294967295" type="title"/>
          </p:nvPr>
        </p:nvSpPr>
        <p:spPr>
          <a:xfrm>
            <a:off x="930850" y="1986750"/>
            <a:ext cx="7177800" cy="16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Esse modelo consiste em você fazer toda integração, modelar um produto ou formas de monetizar em cima, revender ao seu cliente e obter lucro sobre a integração te permitindo monetizar de várias formas. Porém com um volume menor de clientes iniciando, </a:t>
            </a: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menos que 26 clientes</a:t>
            </a:r>
            <a:r>
              <a:rPr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por exemplo.</a:t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Você se integra &gt;Emula o QR Code &gt; Você vende para seu cliente &gt; Ele te paga &gt; Nós te cobramos a instância</a:t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7" name="Google Shape;217;p34"/>
          <p:cNvSpPr txBox="1"/>
          <p:nvPr>
            <p:ph idx="4294967295" type="title"/>
          </p:nvPr>
        </p:nvSpPr>
        <p:spPr>
          <a:xfrm>
            <a:off x="906900" y="3746175"/>
            <a:ext cx="71778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Uso indicado: </a:t>
            </a:r>
            <a:r>
              <a:rPr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Software house ou Afiliado que </a:t>
            </a: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pretende</a:t>
            </a:r>
            <a:r>
              <a:rPr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cobrar o cliente sobre a api também, apenas indicar ele à utilizar a integração já feita por você.</a:t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type="title"/>
          </p:nvPr>
        </p:nvSpPr>
        <p:spPr>
          <a:xfrm>
            <a:off x="716500" y="872850"/>
            <a:ext cx="74541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Vantagens</a:t>
            </a:r>
            <a:endParaRPr b="1" sz="26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3" name="Google Shape;223;p35"/>
          <p:cNvPicPr preferRelativeResize="0"/>
          <p:nvPr/>
        </p:nvPicPr>
        <p:blipFill rotWithShape="1">
          <a:blip r:embed="rId4">
            <a:alphaModFix/>
          </a:blip>
          <a:srcRect b="25849" l="0" r="0" t="25854"/>
          <a:stretch/>
        </p:blipFill>
        <p:spPr>
          <a:xfrm>
            <a:off x="3956738" y="200050"/>
            <a:ext cx="1230514" cy="5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5"/>
          <p:cNvSpPr txBox="1"/>
          <p:nvPr>
            <p:ph type="title"/>
          </p:nvPr>
        </p:nvSpPr>
        <p:spPr>
          <a:xfrm>
            <a:off x="716500" y="3158850"/>
            <a:ext cx="74541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Desvantagens</a:t>
            </a:r>
            <a:endParaRPr b="1" sz="26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5" name="Google Shape;225;p35"/>
          <p:cNvSpPr txBox="1"/>
          <p:nvPr>
            <p:ph type="title"/>
          </p:nvPr>
        </p:nvSpPr>
        <p:spPr>
          <a:xfrm>
            <a:off x="930850" y="1361500"/>
            <a:ext cx="71778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Possibilidades de monetizar sobre toda venda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Inúmeras possibilidades de features dentro da sua solução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Geração de muito diferencial competitivo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Desconto progressivo por número de clientes e aumento da margem de lucro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Criação de instâncias, assinatura e cancelamento via API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Suporte Vip e Exclusivo com o time técnico do Z-API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Grupo Exclusivo entre nossas equipes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Hotseat com o comercial para ajudá-lo a vender a solução para o seu cliente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p35"/>
          <p:cNvSpPr txBox="1"/>
          <p:nvPr>
            <p:ph type="title"/>
          </p:nvPr>
        </p:nvSpPr>
        <p:spPr>
          <a:xfrm>
            <a:off x="930850" y="3723700"/>
            <a:ext cx="7177800" cy="12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Com poucos clientes o desconto não é tão grande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Você quem cobra o seu cliente (podendo cobrar a mais)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Nós cobramos você pelo volume de instâncias ativas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idx="4294967295" type="title"/>
          </p:nvPr>
        </p:nvSpPr>
        <p:spPr>
          <a:xfrm>
            <a:off x="792700" y="872850"/>
            <a:ext cx="74541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b="1" lang="pt-BR" sz="3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- Revenda High Scale</a:t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2" name="Google Shape;232;p36"/>
          <p:cNvPicPr preferRelativeResize="0"/>
          <p:nvPr/>
        </p:nvPicPr>
        <p:blipFill rotWithShape="1">
          <a:blip r:embed="rId4">
            <a:alphaModFix/>
          </a:blip>
          <a:srcRect b="25560" l="0" r="1980" t="27098"/>
          <a:stretch/>
        </p:blipFill>
        <p:spPr>
          <a:xfrm>
            <a:off x="3956738" y="200050"/>
            <a:ext cx="1230514" cy="5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6"/>
          <p:cNvSpPr txBox="1"/>
          <p:nvPr>
            <p:ph idx="4294967295" type="title"/>
          </p:nvPr>
        </p:nvSpPr>
        <p:spPr>
          <a:xfrm>
            <a:off x="930850" y="1986750"/>
            <a:ext cx="7177800" cy="16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Esse modelo consiste em você fazer toda integração, modelar um produto ou formas de monetizar em cima, revender ao seu cliente e obter lucro sobre a integração te permitindo monetizar de várias formas. Porém com um volume bem maior de clientes iniciando, </a:t>
            </a: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mais de 100 clientes</a:t>
            </a:r>
            <a:r>
              <a:rPr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por exemplo.</a:t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Você se integra &gt;Emula o QR Code &gt; Você vende para seu cliente &gt; Ele te paga &gt; Nós te cobramos a instância</a:t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p36"/>
          <p:cNvSpPr txBox="1"/>
          <p:nvPr>
            <p:ph idx="4294967295" type="title"/>
          </p:nvPr>
        </p:nvSpPr>
        <p:spPr>
          <a:xfrm>
            <a:off x="906900" y="3746175"/>
            <a:ext cx="71778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Uso indicado: </a:t>
            </a:r>
            <a:r>
              <a:rPr lang="pt-BR" sz="1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Software house ou Afiliado que não pretende cobrar o cliente sobre a api também, apenas indicar ele à utilizar a integração já feita por você.</a:t>
            </a:r>
            <a:endParaRPr sz="1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/>
          <p:nvPr>
            <p:ph type="title"/>
          </p:nvPr>
        </p:nvSpPr>
        <p:spPr>
          <a:xfrm>
            <a:off x="716500" y="872850"/>
            <a:ext cx="74541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Vantagens</a:t>
            </a:r>
            <a:endParaRPr b="1" sz="26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1" name="Google Shape;241;p37"/>
          <p:cNvPicPr preferRelativeResize="0"/>
          <p:nvPr/>
        </p:nvPicPr>
        <p:blipFill rotWithShape="1">
          <a:blip r:embed="rId4">
            <a:alphaModFix/>
          </a:blip>
          <a:srcRect b="25849" l="0" r="0" t="25854"/>
          <a:stretch/>
        </p:blipFill>
        <p:spPr>
          <a:xfrm>
            <a:off x="3956738" y="200050"/>
            <a:ext cx="1230514" cy="5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7"/>
          <p:cNvSpPr txBox="1"/>
          <p:nvPr>
            <p:ph type="title"/>
          </p:nvPr>
        </p:nvSpPr>
        <p:spPr>
          <a:xfrm>
            <a:off x="716500" y="3158850"/>
            <a:ext cx="74541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Desvantagens</a:t>
            </a:r>
            <a:endParaRPr b="1" sz="26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p37"/>
          <p:cNvSpPr txBox="1"/>
          <p:nvPr>
            <p:ph type="title"/>
          </p:nvPr>
        </p:nvSpPr>
        <p:spPr>
          <a:xfrm>
            <a:off x="930850" y="1361500"/>
            <a:ext cx="71778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Possibilidades de monetizar sobre toda venda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Inúmeras possibilidades de features dentro da sua solução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Geração de muito diferencial competitivo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Desconto progressivo por número de clientes e aumento da margem de lucro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Criação de instâncias, assinatura e cancelamento via API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Suporte Vip e Exclusivo com o time técnico do Z-API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Grupo Exclusivo entre nossas equipes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Hotseat com o comercial para ajudá-lo a vender a solução para o seu cliente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p37"/>
          <p:cNvSpPr txBox="1"/>
          <p:nvPr>
            <p:ph type="title"/>
          </p:nvPr>
        </p:nvSpPr>
        <p:spPr>
          <a:xfrm>
            <a:off x="930850" y="3806300"/>
            <a:ext cx="7177800" cy="8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Você quem cobra o seu cliente (podendo cobrar a mais)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Nós cobramos você pelo volume de instâncias ativas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82F74"/>
              </a:buClr>
              <a:buSzPts val="1300"/>
              <a:buFont typeface="Poppins"/>
              <a:buChar char="●"/>
            </a:pPr>
            <a:r>
              <a:rPr lang="pt-BR" sz="1300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</a:rPr>
              <a:t>Você se responsabiliza pelo suporte do seu cliente</a:t>
            </a:r>
            <a:endParaRPr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/>
          <p:nvPr>
            <p:ph type="title"/>
          </p:nvPr>
        </p:nvSpPr>
        <p:spPr>
          <a:xfrm>
            <a:off x="852300" y="935400"/>
            <a:ext cx="74394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3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IMPORTANTE!</a:t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0" name="Google Shape;250;p38"/>
          <p:cNvPicPr preferRelativeResize="0"/>
          <p:nvPr/>
        </p:nvPicPr>
        <p:blipFill rotWithShape="1">
          <a:blip r:embed="rId4">
            <a:alphaModFix/>
          </a:blip>
          <a:srcRect b="25560" l="0" r="1980" t="27098"/>
          <a:stretch/>
        </p:blipFill>
        <p:spPr>
          <a:xfrm>
            <a:off x="3956738" y="200050"/>
            <a:ext cx="1230514" cy="5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8"/>
          <p:cNvSpPr txBox="1"/>
          <p:nvPr>
            <p:ph type="title"/>
          </p:nvPr>
        </p:nvSpPr>
        <p:spPr>
          <a:xfrm>
            <a:off x="536725" y="2153650"/>
            <a:ext cx="8035800" cy="16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5EFC8D"/>
              </a:buClr>
              <a:buSzPts val="1500"/>
              <a:buFont typeface="Poppins Medium"/>
              <a:buChar char="●"/>
            </a:pPr>
            <a:r>
              <a:rPr lang="pt-BR" sz="1500">
                <a:solidFill>
                  <a:srgbClr val="5EFC8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Não armazenamos as mensagens!</a:t>
            </a:r>
            <a:endParaRPr sz="1500">
              <a:solidFill>
                <a:srgbClr val="5EFC8D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5EFC8D"/>
              </a:buClr>
              <a:buSzPts val="1500"/>
              <a:buFont typeface="Poppins Medium"/>
              <a:buChar char="●"/>
            </a:pPr>
            <a:r>
              <a:rPr lang="pt-BR" sz="1500">
                <a:solidFill>
                  <a:srgbClr val="5EFC8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responsabilidade do número conectada é do cliente</a:t>
            </a:r>
            <a:endParaRPr sz="1500">
              <a:solidFill>
                <a:srgbClr val="5EFC8D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5EFC8D"/>
              </a:buClr>
              <a:buSzPts val="1500"/>
              <a:buFont typeface="Poppins Medium"/>
              <a:buChar char="●"/>
            </a:pPr>
            <a:r>
              <a:rPr lang="pt-BR" sz="1500">
                <a:solidFill>
                  <a:srgbClr val="5EFC8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uso abusivo de envios de mensagens (SPAM) pode causar banimento do seu número</a:t>
            </a:r>
            <a:endParaRPr sz="1500">
              <a:solidFill>
                <a:srgbClr val="5EFC8D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5EFC8D"/>
              </a:buClr>
              <a:buSzPts val="1500"/>
              <a:buFont typeface="Poppins Medium"/>
              <a:buChar char="●"/>
            </a:pPr>
            <a:r>
              <a:rPr lang="pt-BR" sz="1500">
                <a:solidFill>
                  <a:srgbClr val="5EFC8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má utilização dos recursos de disparos não é responsabilidade do Z-API.</a:t>
            </a:r>
            <a:endParaRPr sz="1500">
              <a:solidFill>
                <a:srgbClr val="5EFC8D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5EFC8D"/>
              </a:buClr>
              <a:buSzPts val="1500"/>
              <a:buFont typeface="Poppins Medium"/>
              <a:buChar char="●"/>
            </a:pPr>
            <a:r>
              <a:rPr lang="pt-BR" sz="1500">
                <a:solidFill>
                  <a:srgbClr val="5EFC8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 3% dos destinatários marcarem sua mensagem como spam, seu número será banido!</a:t>
            </a:r>
            <a:endParaRPr sz="1500">
              <a:solidFill>
                <a:srgbClr val="5EFC8D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EFC8D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EFC8D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9"/>
          <p:cNvSpPr txBox="1"/>
          <p:nvPr>
            <p:ph idx="4294967295" type="title"/>
          </p:nvPr>
        </p:nvSpPr>
        <p:spPr>
          <a:xfrm>
            <a:off x="792700" y="872850"/>
            <a:ext cx="74541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Links relevantes</a:t>
            </a:r>
            <a:endParaRPr b="1" sz="3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7" name="Google Shape;257;p39"/>
          <p:cNvPicPr preferRelativeResize="0"/>
          <p:nvPr/>
        </p:nvPicPr>
        <p:blipFill rotWithShape="1">
          <a:blip r:embed="rId4">
            <a:alphaModFix/>
          </a:blip>
          <a:srcRect b="25560" l="0" r="1980" t="27098"/>
          <a:stretch/>
        </p:blipFill>
        <p:spPr>
          <a:xfrm>
            <a:off x="3956738" y="200050"/>
            <a:ext cx="1230514" cy="5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9"/>
          <p:cNvSpPr txBox="1"/>
          <p:nvPr>
            <p:ph idx="4294967295" type="title"/>
          </p:nvPr>
        </p:nvSpPr>
        <p:spPr>
          <a:xfrm>
            <a:off x="1326100" y="2173800"/>
            <a:ext cx="2486100" cy="371100"/>
          </a:xfrm>
          <a:prstGeom prst="rect">
            <a:avLst/>
          </a:prstGeom>
          <a:solidFill>
            <a:srgbClr val="5EFC8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 u="sng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Painel: Crie sua conta</a:t>
            </a:r>
            <a:endParaRPr b="1"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0" name="Google Shape;260;p39"/>
          <p:cNvSpPr txBox="1"/>
          <p:nvPr>
            <p:ph idx="4294967295" type="title"/>
          </p:nvPr>
        </p:nvSpPr>
        <p:spPr>
          <a:xfrm>
            <a:off x="1326100" y="2738350"/>
            <a:ext cx="2486100" cy="371100"/>
          </a:xfrm>
          <a:prstGeom prst="rect">
            <a:avLst/>
          </a:prstGeom>
          <a:solidFill>
            <a:srgbClr val="5EFC8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 u="sng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Documentação Z-API</a:t>
            </a:r>
            <a:endParaRPr b="1"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" name="Google Shape;261;p39"/>
          <p:cNvSpPr txBox="1"/>
          <p:nvPr>
            <p:ph idx="4294967295" type="title"/>
          </p:nvPr>
        </p:nvSpPr>
        <p:spPr>
          <a:xfrm>
            <a:off x="1326100" y="3302900"/>
            <a:ext cx="2486100" cy="371100"/>
          </a:xfrm>
          <a:prstGeom prst="rect">
            <a:avLst/>
          </a:prstGeom>
          <a:solidFill>
            <a:srgbClr val="5EFC8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 u="sng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</a:t>
            </a:r>
            <a:endParaRPr b="1"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" name="Google Shape;262;p39"/>
          <p:cNvSpPr txBox="1"/>
          <p:nvPr>
            <p:ph idx="4294967295" type="title"/>
          </p:nvPr>
        </p:nvSpPr>
        <p:spPr>
          <a:xfrm>
            <a:off x="1326100" y="3857825"/>
            <a:ext cx="2486100" cy="371100"/>
          </a:xfrm>
          <a:prstGeom prst="rect">
            <a:avLst/>
          </a:prstGeom>
          <a:solidFill>
            <a:srgbClr val="5EFC8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 u="sng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Swagger</a:t>
            </a:r>
            <a:endParaRPr b="1"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" name="Google Shape;263;p39"/>
          <p:cNvSpPr txBox="1"/>
          <p:nvPr>
            <p:ph idx="4294967295" type="title"/>
          </p:nvPr>
        </p:nvSpPr>
        <p:spPr>
          <a:xfrm>
            <a:off x="5041750" y="2173800"/>
            <a:ext cx="2486100" cy="371100"/>
          </a:xfrm>
          <a:prstGeom prst="rect">
            <a:avLst/>
          </a:prstGeom>
          <a:solidFill>
            <a:srgbClr val="5EFC8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 u="sng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Suporte Técnico</a:t>
            </a:r>
            <a:endParaRPr b="1"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" name="Google Shape;264;p39"/>
          <p:cNvSpPr txBox="1"/>
          <p:nvPr>
            <p:ph idx="4294967295" type="title"/>
          </p:nvPr>
        </p:nvSpPr>
        <p:spPr>
          <a:xfrm>
            <a:off x="5041750" y="2738350"/>
            <a:ext cx="2486100" cy="371100"/>
          </a:xfrm>
          <a:prstGeom prst="rect">
            <a:avLst/>
          </a:prstGeom>
          <a:solidFill>
            <a:srgbClr val="5EFC8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 u="sng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Comercial - Preços</a:t>
            </a:r>
            <a:endParaRPr b="1"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" name="Google Shape;265;p39"/>
          <p:cNvSpPr txBox="1"/>
          <p:nvPr>
            <p:ph idx="4294967295" type="title"/>
          </p:nvPr>
        </p:nvSpPr>
        <p:spPr>
          <a:xfrm>
            <a:off x="5033511" y="3302900"/>
            <a:ext cx="2486100" cy="371100"/>
          </a:xfrm>
          <a:prstGeom prst="rect">
            <a:avLst/>
          </a:prstGeom>
          <a:solidFill>
            <a:srgbClr val="5EFC8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 u="sng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Site do Z-API</a:t>
            </a:r>
            <a:endParaRPr b="1"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" name="Google Shape;266;p39"/>
          <p:cNvSpPr txBox="1"/>
          <p:nvPr>
            <p:ph idx="4294967295" type="title"/>
          </p:nvPr>
        </p:nvSpPr>
        <p:spPr>
          <a:xfrm>
            <a:off x="5050087" y="3867450"/>
            <a:ext cx="2486100" cy="371100"/>
          </a:xfrm>
          <a:prstGeom prst="rect">
            <a:avLst/>
          </a:prstGeom>
          <a:solidFill>
            <a:srgbClr val="5EFC8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 u="sng">
                <a:solidFill>
                  <a:srgbClr val="082F74"/>
                </a:solidFill>
                <a:latin typeface="Poppins"/>
                <a:ea typeface="Poppins"/>
                <a:cs typeface="Poppins"/>
                <a:sym typeface="Poppins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Reunião Comercial</a:t>
            </a:r>
            <a:endParaRPr b="1" sz="1300">
              <a:solidFill>
                <a:srgbClr val="082F7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