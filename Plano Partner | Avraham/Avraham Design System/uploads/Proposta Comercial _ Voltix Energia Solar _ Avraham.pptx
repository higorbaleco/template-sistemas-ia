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Plus Jakarta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usJakartaSans-regular.fntdata"/><Relationship Id="rId14" Type="http://schemas.openxmlformats.org/officeDocument/2006/relationships/slide" Target="slides/slide10.xml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PlusJakarta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10" Type="http://schemas.openxmlformats.org/officeDocument/2006/relationships/image" Target="../media/image36.png"/><Relationship Id="rId9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31.png"/><Relationship Id="rId5" Type="http://schemas.openxmlformats.org/officeDocument/2006/relationships/image" Target="../media/image50.png"/><Relationship Id="rId6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image" Target="../media/image34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118872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VOLTIX ENERGIA SOLAR • PROPOSTA COMERCIAL • SETEMBRO/2026</a:t>
            </a:r>
            <a:endParaRPr b="1" i="0" sz="9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1874520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Aquisição</a:t>
            </a:r>
            <a:r>
              <a:rPr i="0" lang="en-US" sz="3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digital para </a:t>
            </a:r>
            <a:r>
              <a:rPr b="1" i="0" lang="en-US" sz="38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Voltix</a:t>
            </a:r>
            <a:r>
              <a:rPr i="0" lang="en-US" sz="3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3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76072" y="3063240"/>
            <a:ext cx="5577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550"/>
              <a:buFont typeface="Arial"/>
              <a:buNone/>
            </a:pPr>
            <a:r>
              <a:rPr i="0" lang="en-US" sz="15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Tráfego pago, social media, landing page de captação e Google Business trabalhando juntos para gerar oportunidades comerciais com mais previsibilidade.</a:t>
            </a:r>
            <a:endParaRPr i="0" sz="15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66928" y="4983480"/>
            <a:ext cx="3200400" cy="1005840"/>
          </a:xfrm>
          <a:prstGeom prst="roundRect">
            <a:avLst>
              <a:gd fmla="val 16667" name="adj"/>
            </a:avLst>
          </a:prstGeom>
          <a:solidFill>
            <a:srgbClr val="1A1114">
              <a:alpha val="78039"/>
            </a:srgbClr>
          </a:solidFill>
          <a:ln cap="flat" cmpd="sng" w="12700">
            <a:solidFill>
              <a:srgbClr val="FF5C6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31520" y="514807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FF5C6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1" y="524463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1298448" y="51663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Situação atual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298450" y="5513825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Demanda precisa ser organizada em canais, conteúdo, página e anúncios.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959352" y="4983480"/>
            <a:ext cx="3291840" cy="100584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123944" y="514807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0505" y="524463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/>
          <p:nvPr/>
        </p:nvSpPr>
        <p:spPr>
          <a:xfrm>
            <a:off x="4690872" y="51663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Linha de investimento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690872" y="551383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Gestão mensal</a:t>
            </a:r>
            <a:r>
              <a:rPr lang="en-US" sz="1050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administração da </a:t>
            </a: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verba de mídia</a:t>
            </a:r>
            <a:r>
              <a:rPr lang="en-US" sz="1050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captação de canais.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452360" y="4983480"/>
            <a:ext cx="3886200" cy="100584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616952" y="514807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3513" y="524463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8183880" y="516636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Escopo resumido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183880" y="5476828"/>
            <a:ext cx="297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Campanhas, conteúdo, conversão no site, landing page e presença local no Google.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863840" y="685800"/>
            <a:ext cx="2926080" cy="4160520"/>
          </a:xfrm>
          <a:prstGeom prst="roundRect">
            <a:avLst>
              <a:gd fmla="val 16667" name="adj"/>
            </a:avLst>
          </a:prstGeom>
          <a:solidFill>
            <a:srgbClr val="041012">
              <a:alpha val="96863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119872" y="960120"/>
            <a:ext cx="2423160" cy="3611880"/>
          </a:xfrm>
          <a:prstGeom prst="roundRect">
            <a:avLst>
              <a:gd fmla="val 16667" name="adj"/>
            </a:avLst>
          </a:prstGeom>
          <a:solidFill>
            <a:srgbClr val="050C0F"/>
          </a:solidFill>
          <a:ln cap="flat" cmpd="sng" w="12700">
            <a:solidFill>
              <a:srgbClr val="2B3F4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275320" y="1133856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18:32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302752" y="1389888"/>
            <a:ext cx="1920240" cy="384048"/>
          </a:xfrm>
          <a:prstGeom prst="roundRect">
            <a:avLst>
              <a:gd fmla="val 16667" name="adj"/>
            </a:avLst>
          </a:prstGeom>
          <a:solidFill>
            <a:srgbClr val="142730"/>
          </a:solidFill>
          <a:ln cap="flat" cmpd="sng" w="12700">
            <a:solidFill>
              <a:srgbClr val="23434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412480" y="1517904"/>
            <a:ext cx="1691640" cy="100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60"/>
              <a:buFont typeface="Arial"/>
              <a:buNone/>
            </a:pPr>
            <a:r>
              <a:rPr i="0" lang="en-US" sz="76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Olá, seja bem-vindo à Voltix.</a:t>
            </a:r>
            <a:endParaRPr i="0" sz="76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8302752" y="1901952"/>
            <a:ext cx="1920240" cy="1051560"/>
          </a:xfrm>
          <a:prstGeom prst="roundRect">
            <a:avLst>
              <a:gd fmla="val 16667" name="adj"/>
            </a:avLst>
          </a:prstGeom>
          <a:solidFill>
            <a:srgbClr val="0D2027"/>
          </a:solidFill>
          <a:ln cap="flat" cmpd="sng" w="12700">
            <a:solidFill>
              <a:srgbClr val="1A313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439912" y="2057400"/>
            <a:ext cx="1645920" cy="210312"/>
          </a:xfrm>
          <a:prstGeom prst="roundRect">
            <a:avLst>
              <a:gd fmla="val 16667" name="adj"/>
            </a:avLst>
          </a:prstGeom>
          <a:solidFill>
            <a:srgbClr val="0B3234">
              <a:alpha val="87843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8558784" y="2112264"/>
            <a:ext cx="1389888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650"/>
              <a:buFont typeface="Arial"/>
              <a:buNone/>
            </a:pPr>
            <a:r>
              <a:rPr i="0" lang="en-US" sz="6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Solicitar simulação</a:t>
            </a:r>
            <a:endParaRPr i="0" sz="6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439912" y="2331720"/>
            <a:ext cx="1645920" cy="210312"/>
          </a:xfrm>
          <a:prstGeom prst="roundRect">
            <a:avLst>
              <a:gd fmla="val 16667" name="adj"/>
            </a:avLst>
          </a:prstGeom>
          <a:solidFill>
            <a:srgbClr val="0B3234">
              <a:alpha val="87843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558784" y="2386584"/>
            <a:ext cx="1389888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650"/>
              <a:buFont typeface="Arial"/>
              <a:buNone/>
            </a:pPr>
            <a:r>
              <a:rPr i="0" lang="en-US" sz="6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Conhecer energia solar</a:t>
            </a:r>
            <a:endParaRPr i="0" sz="6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439912" y="2606040"/>
            <a:ext cx="1645920" cy="210312"/>
          </a:xfrm>
          <a:prstGeom prst="roundRect">
            <a:avLst>
              <a:gd fmla="val 16667" name="adj"/>
            </a:avLst>
          </a:prstGeom>
          <a:solidFill>
            <a:srgbClr val="0B3234">
              <a:alpha val="87843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558784" y="2660904"/>
            <a:ext cx="1389888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650"/>
              <a:buFont typeface="Arial"/>
              <a:buNone/>
            </a:pPr>
            <a:r>
              <a:rPr i="0" lang="en-US" sz="6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Falar com especialista</a:t>
            </a:r>
            <a:endParaRPr i="0" sz="6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915400" y="3246120"/>
            <a:ext cx="1508760" cy="347472"/>
          </a:xfrm>
          <a:prstGeom prst="roundRect">
            <a:avLst>
              <a:gd fmla="val 16667" name="adj"/>
            </a:avLst>
          </a:prstGeom>
          <a:solidFill>
            <a:srgbClr val="005C55"/>
          </a:solidFill>
          <a:ln cap="flat" cmpd="sng" w="12700">
            <a:solidFill>
              <a:srgbClr val="005C5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9061704" y="3364992"/>
            <a:ext cx="1243584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40"/>
              <a:buFont typeface="Arial"/>
              <a:buNone/>
            </a:pPr>
            <a:r>
              <a:rPr i="0" lang="en-US" sz="6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Quero simular minha economia.</a:t>
            </a:r>
            <a:endParaRPr i="0" sz="6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302752" y="3776472"/>
            <a:ext cx="1920240" cy="384048"/>
          </a:xfrm>
          <a:prstGeom prst="roundRect">
            <a:avLst>
              <a:gd fmla="val 16667" name="adj"/>
            </a:avLst>
          </a:prstGeom>
          <a:solidFill>
            <a:srgbClr val="142730"/>
          </a:solidFill>
          <a:ln cap="flat" cmpd="sng" w="12700">
            <a:solidFill>
              <a:srgbClr val="23434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8412480" y="3904488"/>
            <a:ext cx="15544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40"/>
              <a:buFont typeface="Arial"/>
              <a:buNone/>
            </a:pPr>
            <a:r>
              <a:rPr i="0" lang="en-US" sz="6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Perfeito. Vou direcionar seu contato.</a:t>
            </a:r>
            <a:endParaRPr i="0" sz="6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56" name="Google Shape;5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5" y="493771"/>
            <a:ext cx="347474" cy="34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4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68" name="Google Shape;68;p4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4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40" y="1417320"/>
            <a:ext cx="5989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500"/>
              <a:buFont typeface="Play"/>
              <a:buNone/>
            </a:pPr>
            <a:r>
              <a:rPr i="0" lang="en-US" sz="3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 presença digital solta à </a:t>
            </a:r>
            <a:r>
              <a:rPr b="1" i="0" lang="en-US" sz="35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aquisição previsível</a:t>
            </a:r>
            <a:r>
              <a:rPr i="0" lang="en-US" sz="3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3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66928" y="292608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Resumo executivo da proposta.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66928" y="3401568"/>
            <a:ext cx="5532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proposta estrutura uma operação integrada para atrair interessados em energia solar, conduzir o tráfego para uma página de conversão e fortalecer a validação da marca no Google e nas redes sociais.</a:t>
            </a:r>
            <a:endParaRPr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903720" y="1143000"/>
            <a:ext cx="4343400" cy="1078992"/>
          </a:xfrm>
          <a:prstGeom prst="roundRect">
            <a:avLst>
              <a:gd fmla="val 16667" name="adj"/>
            </a:avLst>
          </a:prstGeom>
          <a:solidFill>
            <a:srgbClr val="211316">
              <a:alpha val="78039"/>
            </a:srgbClr>
          </a:solidFill>
          <a:ln cap="flat" cmpd="sng" w="12700">
            <a:solidFill>
              <a:srgbClr val="FF5C6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068312" y="130759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FF5C6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4873" y="14041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7635240" y="132588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Situação atual identificada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635240" y="1673352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cliente pesquisa, compara e valida a empresa antes de pedir uma proposta.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903720" y="2542032"/>
            <a:ext cx="4343400" cy="1389888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7068312" y="270662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4873" y="28031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7635240" y="272491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Linha do projeto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635240" y="3072384"/>
            <a:ext cx="3429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Implementação inicial de 30 dias e operação mensal contínua para otimização das campanhas, conteúdo e conversões.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903720" y="4251960"/>
            <a:ext cx="4343400" cy="114300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7068312" y="441655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4873" y="451311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7635240" y="443484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Operação proposta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635240" y="4782312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Tráfego pago + social media + landing page + ajustes no site + Google Business.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903720" y="5669280"/>
            <a:ext cx="4343400" cy="502920"/>
          </a:xfrm>
          <a:prstGeom prst="roundRect">
            <a:avLst>
              <a:gd fmla="val 16667" name="adj"/>
            </a:avLst>
          </a:prstGeom>
          <a:solidFill>
            <a:srgbClr val="0B1D24">
              <a:alpha val="81961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132320" y="5843016"/>
            <a:ext cx="38862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R$ 4.500/mês de gestão + R$ 1.500 a R$ 3.000/mês de mídia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5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96012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4000"/>
              <a:buFont typeface="Play"/>
              <a:buNone/>
            </a:pPr>
            <a:r>
              <a:rPr i="0" lang="en-US" sz="4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Diagnóstico e </a:t>
            </a:r>
            <a:r>
              <a:rPr i="0" lang="en-US" sz="40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</a:t>
            </a:r>
            <a:r>
              <a:rPr i="0" lang="en-US" sz="4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4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66928" y="17830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geração de oportunidades depende de tráfego, prova, conversão e atendimento funcionando em conjunto.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02920" y="2423160"/>
            <a:ext cx="5257800" cy="1993392"/>
          </a:xfrm>
          <a:prstGeom prst="roundRect">
            <a:avLst>
              <a:gd fmla="val 16667" name="adj"/>
            </a:avLst>
          </a:prstGeom>
          <a:solidFill>
            <a:srgbClr val="1A1114">
              <a:alpha val="90196"/>
            </a:srgbClr>
          </a:solidFill>
          <a:ln cap="flat" cmpd="sng" w="12700">
            <a:solidFill>
              <a:srgbClr val="FF5C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31520" y="2633472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25171A">
              <a:alpha val="92157"/>
            </a:srgbClr>
          </a:solidFill>
          <a:ln cap="flat" cmpd="sng" w="10150">
            <a:solidFill>
              <a:srgbClr val="FF5C6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" y="2734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1325880" y="26974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Hoje na operação</a:t>
            </a:r>
            <a:endParaRPr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" y="322783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1152144" y="3218688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Campanhas sem página focada em conversão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" y="35204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1152144" y="3511296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Redes sociais sem calendário comercial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" y="38130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1152144" y="3803904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Business pouco explorado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" y="410565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/>
          <p:nvPr/>
        </p:nvSpPr>
        <p:spPr>
          <a:xfrm>
            <a:off x="1152144" y="4096512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Dificuldade de medir origem das oportunidades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989320" y="2423160"/>
            <a:ext cx="5257800" cy="1993392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217920" y="2633472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8504" y="2734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6812280" y="26974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 a Avraham</a:t>
            </a:r>
            <a:endParaRPr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322783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6638544" y="3218688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Campanhas com direcionamento estratégico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35204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6638544" y="3511296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Conteúdo apoiando a decisão de compra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38130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6638544" y="3803904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 de captação com oferta clara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410565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638544" y="4096512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Acompanhamento mensal de indicadores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02920" y="4800600"/>
            <a:ext cx="1993392" cy="91440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67512" y="496519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73" y="5061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1234440" y="498348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Gestão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234440" y="533095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Mais clareza sobre investimento, execução e resultados.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688336" y="4800600"/>
            <a:ext cx="1993392" cy="91440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2852928" y="496519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49489" y="5061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3419856" y="498348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Operacional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419856" y="533095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Processo mais organizado para aquisição e atendimento.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873752" y="4800600"/>
            <a:ext cx="1993392" cy="91440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038344" y="496519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34905" y="5061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5605272" y="498348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 final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605272" y="533095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Jornada mais simples para solicitar simulação.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059168" y="4800600"/>
            <a:ext cx="1993392" cy="91440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223760" y="496519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20321" y="5061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7790688" y="498348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Mercado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790688" y="533095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Marca mais presente nos pontos de validação.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244584" y="4800600"/>
            <a:ext cx="1993392" cy="91440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9409176" y="496519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05737" y="5061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9976104" y="498348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Financeiro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976104" y="533095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Mídia com otimização por dados reais.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6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6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67" name="Google Shape;167;p6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6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128016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4000"/>
              <a:buFont typeface="Play"/>
              <a:buNone/>
            </a:pPr>
            <a:r>
              <a:rPr i="0" lang="en-US" sz="4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Arquitetura da </a:t>
            </a:r>
            <a:r>
              <a:rPr i="0" lang="en-US" sz="40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solução</a:t>
            </a:r>
            <a:r>
              <a:rPr i="0" lang="en-US" sz="4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4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66928" y="25146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Uma estrutura simples para atrair, captar, validar e entregar oportunidades ao comercial.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66928" y="3291840"/>
            <a:ext cx="1143000" cy="804672"/>
          </a:xfrm>
          <a:prstGeom prst="roundRect">
            <a:avLst>
              <a:gd fmla="val 16667" name="adj"/>
            </a:avLst>
          </a:prstGeom>
          <a:solidFill>
            <a:srgbClr val="081C2A">
              <a:alpha val="85098"/>
            </a:srgbClr>
          </a:solidFill>
          <a:ln cap="flat" cmpd="sng" w="12700">
            <a:solidFill>
              <a:srgbClr val="008FE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905256" y="342900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08F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41" y="3495385"/>
            <a:ext cx="168981" cy="16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658368" y="388620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20"/>
              <a:buFont typeface="Arial"/>
              <a:buNone/>
            </a:pPr>
            <a:r>
              <a:rPr i="0" lang="en-US" sz="82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Anúncios</a:t>
            </a:r>
            <a:endParaRPr i="0" sz="8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801368" y="358444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1700"/>
              <a:buFont typeface="Arial"/>
              <a:buNone/>
            </a:pPr>
            <a:r>
              <a:rPr i="0" lang="en-US" sz="17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075688" y="3291840"/>
            <a:ext cx="1143000" cy="804672"/>
          </a:xfrm>
          <a:prstGeom prst="roundRect">
            <a:avLst>
              <a:gd fmla="val 16667" name="adj"/>
            </a:avLst>
          </a:prstGeom>
          <a:solidFill>
            <a:srgbClr val="092729">
              <a:alpha val="85098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2414016" y="342900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0401" y="3495385"/>
            <a:ext cx="168981" cy="16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2167128" y="388620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20"/>
              <a:buFont typeface="Arial"/>
              <a:buNone/>
            </a:pPr>
            <a:r>
              <a:rPr i="0" lang="en-US" sz="82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Landing Page</a:t>
            </a:r>
            <a:endParaRPr i="0" sz="8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310128" y="358444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1700"/>
              <a:buFont typeface="Arial"/>
              <a:buNone/>
            </a:pPr>
            <a:r>
              <a:rPr i="0" lang="en-US" sz="17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584448" y="3291840"/>
            <a:ext cx="1143000" cy="804672"/>
          </a:xfrm>
          <a:prstGeom prst="roundRect">
            <a:avLst>
              <a:gd fmla="val 16667" name="adj"/>
            </a:avLst>
          </a:prstGeom>
          <a:solidFill>
            <a:srgbClr val="092729">
              <a:alpha val="85098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922776" y="342900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9161" y="3495385"/>
            <a:ext cx="168981" cy="16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3675888" y="388620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20"/>
              <a:buFont typeface="Arial"/>
              <a:buNone/>
            </a:pPr>
            <a:r>
              <a:rPr i="0" lang="en-US" sz="82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</a:t>
            </a:r>
            <a:endParaRPr i="0" sz="8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818888" y="358444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1700"/>
              <a:buFont typeface="Arial"/>
              <a:buNone/>
            </a:pPr>
            <a:r>
              <a:rPr i="0" lang="en-US" sz="17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093208" y="3291840"/>
            <a:ext cx="1143000" cy="804672"/>
          </a:xfrm>
          <a:prstGeom prst="roundRect">
            <a:avLst>
              <a:gd fmla="val 16667" name="adj"/>
            </a:avLst>
          </a:prstGeom>
          <a:solidFill>
            <a:srgbClr val="092729">
              <a:alpha val="85098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431536" y="3429000"/>
            <a:ext cx="301752" cy="30175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97921" y="3495385"/>
            <a:ext cx="168981" cy="16898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5184648" y="388620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20"/>
              <a:buFont typeface="Arial"/>
              <a:buNone/>
            </a:pPr>
            <a:r>
              <a:rPr i="0" lang="en-US" sz="82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WhatsApp</a:t>
            </a:r>
            <a:endParaRPr i="0" sz="8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828800" y="452628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CANAIS CONECTADOS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02920" y="4956048"/>
            <a:ext cx="960120" cy="384048"/>
          </a:xfrm>
          <a:prstGeom prst="roundRect">
            <a:avLst>
              <a:gd fmla="val 16667" name="adj"/>
            </a:avLst>
          </a:prstGeom>
          <a:solidFill>
            <a:srgbClr val="0B1D24">
              <a:alpha val="85882"/>
            </a:srgbClr>
          </a:solidFill>
          <a:ln cap="flat" cmpd="sng" w="12700">
            <a:solidFill>
              <a:srgbClr val="08F7F7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48640" y="5093208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Ads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581912" y="4956048"/>
            <a:ext cx="960120" cy="384048"/>
          </a:xfrm>
          <a:prstGeom prst="roundRect">
            <a:avLst>
              <a:gd fmla="val 16667" name="adj"/>
            </a:avLst>
          </a:prstGeom>
          <a:solidFill>
            <a:srgbClr val="0B1D24">
              <a:alpha val="85882"/>
            </a:srgbClr>
          </a:solidFill>
          <a:ln cap="flat" cmpd="sng" w="12700">
            <a:solidFill>
              <a:srgbClr val="08F7F7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1627632" y="5093208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Meta Ads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660904" y="4956048"/>
            <a:ext cx="960120" cy="384048"/>
          </a:xfrm>
          <a:prstGeom prst="roundRect">
            <a:avLst>
              <a:gd fmla="val 16667" name="adj"/>
            </a:avLst>
          </a:prstGeom>
          <a:solidFill>
            <a:srgbClr val="0B1D24">
              <a:alpha val="85882"/>
            </a:srgbClr>
          </a:solidFill>
          <a:ln cap="flat" cmpd="sng" w="12700">
            <a:solidFill>
              <a:srgbClr val="08F7F7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2706624" y="5093208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Instagram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739896" y="4956048"/>
            <a:ext cx="960120" cy="384048"/>
          </a:xfrm>
          <a:prstGeom prst="roundRect">
            <a:avLst>
              <a:gd fmla="val 16667" name="adj"/>
            </a:avLst>
          </a:prstGeom>
          <a:solidFill>
            <a:srgbClr val="0B1D24">
              <a:alpha val="85882"/>
            </a:srgbClr>
          </a:solidFill>
          <a:ln cap="flat" cmpd="sng" w="12700">
            <a:solidFill>
              <a:srgbClr val="00D986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785616" y="5093208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Business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818888" y="4956048"/>
            <a:ext cx="960120" cy="384048"/>
          </a:xfrm>
          <a:prstGeom prst="roundRect">
            <a:avLst>
              <a:gd fmla="val 16667" name="adj"/>
            </a:avLst>
          </a:prstGeom>
          <a:solidFill>
            <a:srgbClr val="0B1D24">
              <a:alpha val="85882"/>
            </a:srgbClr>
          </a:solidFill>
          <a:ln cap="flat" cmpd="sng" w="12700">
            <a:solidFill>
              <a:srgbClr val="08F7F7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64608" y="5093208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Site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675120" y="1097280"/>
            <a:ext cx="4572000" cy="4526280"/>
          </a:xfrm>
          <a:prstGeom prst="roundRect">
            <a:avLst>
              <a:gd fmla="val 16667" name="adj"/>
            </a:avLst>
          </a:prstGeom>
          <a:solidFill>
            <a:srgbClr val="092729">
              <a:alpha val="85098"/>
            </a:srgbClr>
          </a:solidFill>
          <a:ln cap="flat" cmpd="sng" w="12700">
            <a:solidFill>
              <a:srgbClr val="08F7F7">
                <a:alpha val="7607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949440" y="1353312"/>
            <a:ext cx="502920" cy="502920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0082" y="146395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7635240" y="1508760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 4 frentes da operação</a:t>
            </a:r>
            <a:endParaRPr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086600" y="2286000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967728" y="2167128"/>
            <a:ext cx="502920" cy="502920"/>
          </a:xfrm>
          <a:prstGeom prst="ellipse">
            <a:avLst/>
          </a:prstGeom>
          <a:solidFill>
            <a:srgbClr val="071316">
              <a:alpha val="0"/>
            </a:srgbClr>
          </a:solidFill>
          <a:ln cap="flat" cmpd="sng" w="1777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571232" y="2157984"/>
            <a:ext cx="402336" cy="402336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9746" y="2246498"/>
            <a:ext cx="225308" cy="22530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/>
          <p:nvPr/>
        </p:nvSpPr>
        <p:spPr>
          <a:xfrm>
            <a:off x="8229600" y="217627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Tráfego Pago</a:t>
            </a:r>
            <a:endParaRPr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229600" y="2441448"/>
            <a:ext cx="2651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Campanhas para captar interessados em energia solar.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12" name="Google Shape;212;p6"/>
          <p:cNvCxnSpPr/>
          <p:nvPr/>
        </p:nvCxnSpPr>
        <p:spPr>
          <a:xfrm>
            <a:off x="7269480" y="2779776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1C39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6"/>
          <p:cNvSpPr/>
          <p:nvPr/>
        </p:nvSpPr>
        <p:spPr>
          <a:xfrm>
            <a:off x="7086600" y="3090672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967728" y="2971800"/>
            <a:ext cx="502920" cy="502920"/>
          </a:xfrm>
          <a:prstGeom prst="ellipse">
            <a:avLst/>
          </a:prstGeom>
          <a:solidFill>
            <a:srgbClr val="071316">
              <a:alpha val="0"/>
            </a:srgbClr>
          </a:solidFill>
          <a:ln cap="flat" cmpd="sng" w="1777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7571232" y="2962656"/>
            <a:ext cx="402336" cy="402336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9746" y="3051170"/>
            <a:ext cx="225308" cy="22530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8229600" y="2980944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Conversão e Página</a:t>
            </a:r>
            <a:endParaRPr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229600" y="3246120"/>
            <a:ext cx="2651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Landing page, formulário, WhatsApp e oferta de simulação.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19" name="Google Shape;219;p6"/>
          <p:cNvCxnSpPr/>
          <p:nvPr/>
        </p:nvCxnSpPr>
        <p:spPr>
          <a:xfrm>
            <a:off x="7269480" y="358444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1C39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6"/>
          <p:cNvSpPr/>
          <p:nvPr/>
        </p:nvSpPr>
        <p:spPr>
          <a:xfrm>
            <a:off x="7086600" y="3895344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967728" y="3776472"/>
            <a:ext cx="502920" cy="502920"/>
          </a:xfrm>
          <a:prstGeom prst="ellipse">
            <a:avLst/>
          </a:prstGeom>
          <a:solidFill>
            <a:srgbClr val="071316">
              <a:alpha val="0"/>
            </a:srgbClr>
          </a:solidFill>
          <a:ln cap="flat" cmpd="sng" w="1777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7571232" y="3767328"/>
            <a:ext cx="402336" cy="402336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59746" y="3855842"/>
            <a:ext cx="225308" cy="22530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/>
          <p:nvPr/>
        </p:nvSpPr>
        <p:spPr>
          <a:xfrm>
            <a:off x="8229600" y="37856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Conteúdo e Social</a:t>
            </a:r>
            <a:endParaRPr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8229600" y="4050792"/>
            <a:ext cx="2651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Presença ativa para fortalecer confiança e autoridade.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26" name="Google Shape;226;p6"/>
          <p:cNvCxnSpPr/>
          <p:nvPr/>
        </p:nvCxnSpPr>
        <p:spPr>
          <a:xfrm>
            <a:off x="7269480" y="438912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1C39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6"/>
          <p:cNvSpPr/>
          <p:nvPr/>
        </p:nvSpPr>
        <p:spPr>
          <a:xfrm>
            <a:off x="7086600" y="4700016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967728" y="4581144"/>
            <a:ext cx="502920" cy="502920"/>
          </a:xfrm>
          <a:prstGeom prst="ellipse">
            <a:avLst/>
          </a:prstGeom>
          <a:solidFill>
            <a:srgbClr val="071316">
              <a:alpha val="0"/>
            </a:srgbClr>
          </a:solidFill>
          <a:ln cap="flat" cmpd="sng" w="1777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7571232" y="4572000"/>
            <a:ext cx="402336" cy="402336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59746" y="4660514"/>
            <a:ext cx="225308" cy="22530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6"/>
          <p:cNvSpPr/>
          <p:nvPr/>
        </p:nvSpPr>
        <p:spPr>
          <a:xfrm>
            <a:off x="8229600" y="459028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Business</a:t>
            </a:r>
            <a:endParaRPr i="0" sz="13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8229600" y="4855464"/>
            <a:ext cx="2651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Validação local, avaliações e presença nas buscas.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7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7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44" name="Google Shape;244;p7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7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30352" y="1170432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4100"/>
              <a:buFont typeface="Play"/>
              <a:buNone/>
            </a:pPr>
            <a:r>
              <a:rPr i="0" lang="en-US" sz="41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está </a:t>
            </a:r>
            <a:r>
              <a:rPr i="0" lang="en-US" sz="41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incluso</a:t>
            </a:r>
            <a:r>
              <a:rPr i="0" lang="en-US" sz="41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4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66928" y="205740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Tudo que a Voltix precisa para iniciar uma operação digital de aquisição com base em dados.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66928" y="2761488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83464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1115568" y="2862072"/>
            <a:ext cx="4983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30"/>
              <a:buFont typeface="Arial"/>
              <a:buNone/>
            </a:pPr>
            <a:r>
              <a:rPr i="0" lang="en-US" sz="11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Gestão de campanhas de tráfego pago</a:t>
            </a:r>
            <a:endParaRPr i="0" sz="11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66928" y="3191256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26440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7"/>
          <p:cNvSpPr/>
          <p:nvPr/>
        </p:nvSpPr>
        <p:spPr>
          <a:xfrm>
            <a:off x="1115568" y="3291840"/>
            <a:ext cx="4983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30"/>
              <a:buFont typeface="Arial"/>
              <a:buNone/>
            </a:pPr>
            <a:r>
              <a:rPr i="0" lang="en-US" sz="11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Planejamento de social media</a:t>
            </a:r>
            <a:endParaRPr i="0" sz="11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66928" y="3621024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69417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"/>
          <p:cNvSpPr/>
          <p:nvPr/>
        </p:nvSpPr>
        <p:spPr>
          <a:xfrm>
            <a:off x="1115568" y="3721608"/>
            <a:ext cx="4983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30"/>
              <a:buFont typeface="Arial"/>
              <a:buNone/>
            </a:pPr>
            <a:r>
              <a:rPr i="0" lang="en-US" sz="11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Landing page de captação</a:t>
            </a:r>
            <a:endParaRPr i="0" sz="11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66928" y="4050792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12394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7"/>
          <p:cNvSpPr/>
          <p:nvPr/>
        </p:nvSpPr>
        <p:spPr>
          <a:xfrm>
            <a:off x="1115568" y="4151376"/>
            <a:ext cx="4983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30"/>
              <a:buFont typeface="Arial"/>
              <a:buNone/>
            </a:pPr>
            <a:r>
              <a:rPr i="0" lang="en-US" sz="11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Ajustes no site para conversão</a:t>
            </a:r>
            <a:endParaRPr i="0" sz="11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66928" y="4480560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55371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/>
          <p:nvPr/>
        </p:nvSpPr>
        <p:spPr>
          <a:xfrm>
            <a:off x="1115568" y="4581144"/>
            <a:ext cx="4983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30"/>
              <a:buFont typeface="Arial"/>
              <a:buNone/>
            </a:pPr>
            <a:r>
              <a:rPr i="0" lang="en-US" sz="11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Otimização do Google Business</a:t>
            </a:r>
            <a:endParaRPr i="0" sz="11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66928" y="4910328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98348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1115568" y="5010912"/>
            <a:ext cx="4983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30"/>
              <a:buFont typeface="Arial"/>
              <a:buNone/>
            </a:pPr>
            <a:r>
              <a:rPr i="0" lang="en-US" sz="11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Acompanhamento e otimização mensal</a:t>
            </a:r>
            <a:endParaRPr i="0" sz="11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7360920" y="1691640"/>
            <a:ext cx="3977640" cy="4251960"/>
          </a:xfrm>
          <a:prstGeom prst="roundRect">
            <a:avLst>
              <a:gd fmla="val 16667" name="adj"/>
            </a:avLst>
          </a:prstGeom>
          <a:solidFill>
            <a:srgbClr val="092729">
              <a:alpha val="85882"/>
            </a:srgbClr>
          </a:solidFill>
          <a:ln cap="flat" cmpd="sng" w="12700">
            <a:solidFill>
              <a:srgbClr val="08F7F7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7772400" y="2057400"/>
            <a:ext cx="658368" cy="658368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7241" y="2202241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7"/>
          <p:cNvSpPr/>
          <p:nvPr/>
        </p:nvSpPr>
        <p:spPr>
          <a:xfrm>
            <a:off x="7772400" y="2971800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 ESPERADO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7754112" y="342900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Mais oportunidades comerciais qualificadas</a:t>
            </a:r>
            <a:endParaRPr i="0" sz="2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72" name="Google Shape;272;p7"/>
          <p:cNvCxnSpPr/>
          <p:nvPr/>
        </p:nvCxnSpPr>
        <p:spPr>
          <a:xfrm>
            <a:off x="7772400" y="4242816"/>
            <a:ext cx="3063240" cy="0"/>
          </a:xfrm>
          <a:prstGeom prst="straightConnector1">
            <a:avLst/>
          </a:prstGeom>
          <a:noFill/>
          <a:ln cap="flat" cmpd="sng" w="10150">
            <a:solidFill>
              <a:srgbClr val="24505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73" name="Google Shape;2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9832" y="460857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/>
          <p:nvPr/>
        </p:nvSpPr>
        <p:spPr>
          <a:xfrm>
            <a:off x="8110728" y="4599432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Campanhas com foco em captação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275" name="Google Shape;2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9832" y="49926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7"/>
          <p:cNvSpPr/>
          <p:nvPr/>
        </p:nvSpPr>
        <p:spPr>
          <a:xfrm>
            <a:off x="8110728" y="4983480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Marca melhor apresentada na jornada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preencoded.png" id="277" name="Google Shape;2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9832" y="537667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/>
          <p:nvPr/>
        </p:nvSpPr>
        <p:spPr>
          <a:xfrm>
            <a:off x="8110728" y="5367528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Melhoria contínua com base em dados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8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8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290" name="Google Shape;290;p8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8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30352" y="86868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600"/>
              <a:buFont typeface="Play"/>
              <a:buNone/>
            </a:pPr>
            <a:r>
              <a:rPr i="0" lang="en-US" sz="36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Escopo, limites e </a:t>
            </a:r>
            <a:r>
              <a:rPr i="0" lang="en-US" sz="36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responsabilidades</a:t>
            </a:r>
            <a:r>
              <a:rPr i="0" lang="en-US" sz="36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3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66928" y="166420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Clareza sobre o que será entregue, o que não está incluso e o papel de cada parte.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30352" y="2331720"/>
            <a:ext cx="5166360" cy="173736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694944" y="249631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505" y="259287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8"/>
          <p:cNvSpPr/>
          <p:nvPr/>
        </p:nvSpPr>
        <p:spPr>
          <a:xfrm>
            <a:off x="1261872" y="251460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Entregáveis do projeto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1261872" y="2862072"/>
            <a:ext cx="4251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Tráfego pago, social media, landing page, ajustes de conversão, Google Business e otimização mensal.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989320" y="2331720"/>
            <a:ext cx="5212080" cy="1737360"/>
          </a:xfrm>
          <a:prstGeom prst="roundRect">
            <a:avLst>
              <a:gd fmla="val 16667" name="adj"/>
            </a:avLst>
          </a:prstGeom>
          <a:solidFill>
            <a:srgbClr val="1A1114">
              <a:alpha val="78039"/>
            </a:srgbClr>
          </a:solidFill>
          <a:ln cap="flat" cmpd="sng" w="12700">
            <a:solidFill>
              <a:srgbClr val="FF5C6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6153912" y="249631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FF5C6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0473" y="259287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6720840" y="251460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Fora do escopo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720840" y="2862072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Reconstrução completa do site, produção audiovisual complexa, verba de mídia e garantias de venda.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30352" y="4343400"/>
            <a:ext cx="4160520" cy="1508760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694944" y="450799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505" y="46045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8"/>
          <p:cNvSpPr/>
          <p:nvPr/>
        </p:nvSpPr>
        <p:spPr>
          <a:xfrm>
            <a:off x="1261872" y="452628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o cliente providencia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261872" y="4873752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Acessos, identidade visual, fotos, informações comerciais, regiões atendidas e feedback sobre qualidade dos leads.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983480" y="4343400"/>
            <a:ext cx="6217920" cy="1508760"/>
          </a:xfrm>
          <a:prstGeom prst="roundRect">
            <a:avLst>
              <a:gd fmla="val 16667" name="adj"/>
            </a:avLst>
          </a:prstGeom>
          <a:solidFill>
            <a:srgbClr val="092729">
              <a:alpha val="83922"/>
            </a:srgbClr>
          </a:solidFill>
          <a:ln cap="flat" cmpd="sng" w="12700">
            <a:solidFill>
              <a:srgbClr val="08F7F7">
                <a:alpha val="7607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5230368" y="4590288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26929" y="468684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/>
          <p:nvPr/>
        </p:nvSpPr>
        <p:spPr>
          <a:xfrm>
            <a:off x="5806440" y="46451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Responsabilidades resumidas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230368" y="5047488"/>
            <a:ext cx="1719072" cy="502920"/>
          </a:xfrm>
          <a:prstGeom prst="roundRect">
            <a:avLst>
              <a:gd fmla="val 16667" name="adj"/>
            </a:avLst>
          </a:prstGeom>
          <a:solidFill>
            <a:srgbClr val="0B1D24">
              <a:alpha val="80000"/>
            </a:srgbClr>
          </a:solidFill>
          <a:ln cap="flat" cmpd="sng" w="12700">
            <a:solidFill>
              <a:srgbClr val="08F7F7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5321808" y="5148072"/>
            <a:ext cx="1536192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10"/>
              <a:buFont typeface="Arial"/>
              <a:buNone/>
            </a:pPr>
            <a:r>
              <a:rPr i="0" lang="en-US" sz="81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8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321808" y="5340096"/>
            <a:ext cx="1536192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Execução, gestão e otimização.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7132320" y="5047488"/>
            <a:ext cx="1719072" cy="502920"/>
          </a:xfrm>
          <a:prstGeom prst="roundRect">
            <a:avLst>
              <a:gd fmla="val 16667" name="adj"/>
            </a:avLst>
          </a:prstGeom>
          <a:solidFill>
            <a:srgbClr val="0B1D24">
              <a:alpha val="80000"/>
            </a:srgbClr>
          </a:solidFill>
          <a:ln cap="flat" cmpd="sng" w="12700">
            <a:solidFill>
              <a:srgbClr val="08F7F7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7223760" y="5148072"/>
            <a:ext cx="1536192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10"/>
              <a:buFont typeface="Arial"/>
              <a:buNone/>
            </a:pPr>
            <a:r>
              <a:rPr i="0" lang="en-US" sz="81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Voltix</a:t>
            </a:r>
            <a:endParaRPr i="0" sz="8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7223760" y="5340096"/>
            <a:ext cx="1536192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Acessos, aprovações e atendimento.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9034272" y="5047488"/>
            <a:ext cx="1719072" cy="502920"/>
          </a:xfrm>
          <a:prstGeom prst="roundRect">
            <a:avLst>
              <a:gd fmla="val 16667" name="adj"/>
            </a:avLst>
          </a:prstGeom>
          <a:solidFill>
            <a:srgbClr val="0B1D24">
              <a:alpha val="80000"/>
            </a:srgbClr>
          </a:solidFill>
          <a:ln cap="flat" cmpd="sng" w="12700">
            <a:solidFill>
              <a:srgbClr val="08F7F7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9125712" y="5148072"/>
            <a:ext cx="1536192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10"/>
              <a:buFont typeface="Arial"/>
              <a:buNone/>
            </a:pPr>
            <a:r>
              <a:rPr i="0" lang="en-US" sz="81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Plataformas</a:t>
            </a:r>
            <a:endParaRPr i="0" sz="8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9125712" y="5340096"/>
            <a:ext cx="1536192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Cobrança de mídia e recursos técnicos.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9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9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34" name="Google Shape;334;p9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9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566928" y="1133856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4000"/>
              <a:buFont typeface="Play"/>
              <a:buNone/>
            </a:pPr>
            <a:r>
              <a:rPr i="0" lang="en-US" sz="4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Riscos e </a:t>
            </a:r>
            <a:r>
              <a:rPr i="0" lang="en-US" sz="40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mitigação</a:t>
            </a:r>
            <a:r>
              <a:rPr i="0" lang="en-US" sz="4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4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66928" y="190195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Planejamento claro para reduzir ruídos e manter a operação ajustada desde o início.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30352" y="2743200"/>
            <a:ext cx="3401568" cy="2816352"/>
          </a:xfrm>
          <a:prstGeom prst="roundRect">
            <a:avLst>
              <a:gd fmla="val 16667" name="adj"/>
            </a:avLst>
          </a:prstGeom>
          <a:solidFill>
            <a:srgbClr val="181215">
              <a:alpha val="87843"/>
            </a:srgbClr>
          </a:solidFill>
          <a:ln cap="flat" cmpd="sng" w="12700">
            <a:solidFill>
              <a:srgbClr val="FF5C68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786384" y="3035808"/>
            <a:ext cx="566928" cy="566928"/>
          </a:xfrm>
          <a:prstGeom prst="roundRect">
            <a:avLst>
              <a:gd fmla="val 16667" name="adj"/>
            </a:avLst>
          </a:prstGeom>
          <a:solidFill>
            <a:srgbClr val="25171A">
              <a:alpha val="92157"/>
            </a:srgbClr>
          </a:solidFill>
          <a:ln cap="flat" cmpd="sng" w="10150">
            <a:solidFill>
              <a:srgbClr val="FF5C6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08" y="316053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9"/>
          <p:cNvSpPr/>
          <p:nvPr/>
        </p:nvSpPr>
        <p:spPr>
          <a:xfrm>
            <a:off x="1673352" y="31546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68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FF5C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RISCO 01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673352" y="349300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650"/>
              <a:buFont typeface="Arial"/>
              <a:buNone/>
            </a:pPr>
            <a:r>
              <a:rPr i="0" lang="en-US" sz="16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Verba baixa para aprendizado</a:t>
            </a:r>
            <a:endParaRPr i="0" sz="16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786384" y="4251960"/>
            <a:ext cx="2852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920"/>
              <a:buFont typeface="Arial"/>
              <a:buNone/>
            </a:pPr>
            <a:r>
              <a:rPr i="0" lang="en-US" sz="92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Risco operacional a ser acompanhado durante a implantação.</a:t>
            </a:r>
            <a:endParaRPr i="0" sz="9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45" name="Google Shape;345;p9"/>
          <p:cNvCxnSpPr/>
          <p:nvPr/>
        </p:nvCxnSpPr>
        <p:spPr>
          <a:xfrm>
            <a:off x="786384" y="4645152"/>
            <a:ext cx="2852928" cy="0"/>
          </a:xfrm>
          <a:prstGeom prst="straightConnector1">
            <a:avLst/>
          </a:prstGeom>
          <a:noFill/>
          <a:ln cap="flat" cmpd="sng" w="9525">
            <a:solidFill>
              <a:srgbClr val="FF5C6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9"/>
          <p:cNvSpPr/>
          <p:nvPr/>
        </p:nvSpPr>
        <p:spPr>
          <a:xfrm>
            <a:off x="786384" y="4800600"/>
            <a:ext cx="2907792" cy="603504"/>
          </a:xfrm>
          <a:prstGeom prst="roundRect">
            <a:avLst>
              <a:gd fmla="val 16667" name="adj"/>
            </a:avLst>
          </a:prstGeom>
          <a:solidFill>
            <a:srgbClr val="063332">
              <a:alpha val="92157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960120" y="4956048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470" y="5016398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1399032" y="49103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MITIGAÇÃO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1399032" y="5148072"/>
            <a:ext cx="2057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40"/>
              <a:buFont typeface="Arial"/>
              <a:buNone/>
            </a:pPr>
            <a:r>
              <a:rPr i="0" lang="en-US" sz="6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Iniciar com mínimo viável e revisar alocação conforme os primeiros dados.</a:t>
            </a:r>
            <a:endParaRPr i="0" sz="6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352544" y="2743200"/>
            <a:ext cx="3401568" cy="2816352"/>
          </a:xfrm>
          <a:prstGeom prst="roundRect">
            <a:avLst>
              <a:gd fmla="val 16667" name="adj"/>
            </a:avLst>
          </a:prstGeom>
          <a:solidFill>
            <a:srgbClr val="181215">
              <a:alpha val="87843"/>
            </a:srgbClr>
          </a:solidFill>
          <a:ln cap="flat" cmpd="sng" w="12700">
            <a:solidFill>
              <a:srgbClr val="FF5C68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4608576" y="3035808"/>
            <a:ext cx="566928" cy="566928"/>
          </a:xfrm>
          <a:prstGeom prst="roundRect">
            <a:avLst>
              <a:gd fmla="val 16667" name="adj"/>
            </a:avLst>
          </a:prstGeom>
          <a:solidFill>
            <a:srgbClr val="25171A">
              <a:alpha val="92157"/>
            </a:srgbClr>
          </a:solidFill>
          <a:ln cap="flat" cmpd="sng" w="10150">
            <a:solidFill>
              <a:srgbClr val="FF5C6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3300" y="316053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9"/>
          <p:cNvSpPr/>
          <p:nvPr/>
        </p:nvSpPr>
        <p:spPr>
          <a:xfrm>
            <a:off x="5495544" y="31546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68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FF5C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RISCO 02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495544" y="349300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650"/>
              <a:buFont typeface="Arial"/>
              <a:buNone/>
            </a:pPr>
            <a:r>
              <a:rPr i="0" lang="en-US" sz="16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 sem atendimento rápido</a:t>
            </a:r>
            <a:endParaRPr i="0" sz="16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608576" y="4251960"/>
            <a:ext cx="2852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920"/>
              <a:buFont typeface="Arial"/>
              <a:buNone/>
            </a:pPr>
            <a:r>
              <a:rPr i="0" lang="en-US" sz="92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Risco operacional a ser acompanhado durante a implantação.</a:t>
            </a:r>
            <a:endParaRPr i="0" sz="9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57" name="Google Shape;357;p9"/>
          <p:cNvCxnSpPr/>
          <p:nvPr/>
        </p:nvCxnSpPr>
        <p:spPr>
          <a:xfrm>
            <a:off x="4608576" y="4645152"/>
            <a:ext cx="2852928" cy="0"/>
          </a:xfrm>
          <a:prstGeom prst="straightConnector1">
            <a:avLst/>
          </a:prstGeom>
          <a:noFill/>
          <a:ln cap="flat" cmpd="sng" w="9525">
            <a:solidFill>
              <a:srgbClr val="FF5C6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9"/>
          <p:cNvSpPr/>
          <p:nvPr/>
        </p:nvSpPr>
        <p:spPr>
          <a:xfrm>
            <a:off x="4608576" y="4800600"/>
            <a:ext cx="2907792" cy="603504"/>
          </a:xfrm>
          <a:prstGeom prst="roundRect">
            <a:avLst>
              <a:gd fmla="val 16667" name="adj"/>
            </a:avLst>
          </a:prstGeom>
          <a:solidFill>
            <a:srgbClr val="063332">
              <a:alpha val="92157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782312" y="4956048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2662" y="5016398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/>
          <p:nvPr/>
        </p:nvSpPr>
        <p:spPr>
          <a:xfrm>
            <a:off x="5221224" y="49103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MITIGAÇÃO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221224" y="5148072"/>
            <a:ext cx="2057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40"/>
              <a:buFont typeface="Arial"/>
              <a:buNone/>
            </a:pPr>
            <a:r>
              <a:rPr i="0" lang="en-US" sz="6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Alinhar rotina comercial para responder contatos enquanto o interesse está quente.</a:t>
            </a:r>
            <a:endParaRPr i="0" sz="6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8174736" y="2743200"/>
            <a:ext cx="3401568" cy="2816352"/>
          </a:xfrm>
          <a:prstGeom prst="roundRect">
            <a:avLst>
              <a:gd fmla="val 16667" name="adj"/>
            </a:avLst>
          </a:prstGeom>
          <a:solidFill>
            <a:srgbClr val="181215">
              <a:alpha val="87843"/>
            </a:srgbClr>
          </a:solidFill>
          <a:ln cap="flat" cmpd="sng" w="12700">
            <a:solidFill>
              <a:srgbClr val="FF5C68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8430768" y="3035808"/>
            <a:ext cx="566928" cy="566928"/>
          </a:xfrm>
          <a:prstGeom prst="roundRect">
            <a:avLst>
              <a:gd fmla="val 16667" name="adj"/>
            </a:avLst>
          </a:prstGeom>
          <a:solidFill>
            <a:srgbClr val="25171A">
              <a:alpha val="92157"/>
            </a:srgbClr>
          </a:solidFill>
          <a:ln cap="flat" cmpd="sng" w="10150">
            <a:solidFill>
              <a:srgbClr val="FF5C6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5492" y="316053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9"/>
          <p:cNvSpPr/>
          <p:nvPr/>
        </p:nvSpPr>
        <p:spPr>
          <a:xfrm>
            <a:off x="9317736" y="31546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68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FF5C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RISCO 03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9317736" y="349300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650"/>
              <a:buFont typeface="Arial"/>
              <a:buNone/>
            </a:pPr>
            <a:r>
              <a:rPr i="0" lang="en-US" sz="16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Pouca prova social disponível</a:t>
            </a:r>
            <a:endParaRPr i="0" sz="16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8430768" y="4251960"/>
            <a:ext cx="2852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920"/>
              <a:buFont typeface="Arial"/>
              <a:buNone/>
            </a:pPr>
            <a:r>
              <a:rPr i="0" lang="en-US" sz="92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Risco operacional a ser acompanhado durante a implantação.</a:t>
            </a:r>
            <a:endParaRPr i="0" sz="9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69" name="Google Shape;369;p9"/>
          <p:cNvCxnSpPr/>
          <p:nvPr/>
        </p:nvCxnSpPr>
        <p:spPr>
          <a:xfrm>
            <a:off x="8430768" y="4645152"/>
            <a:ext cx="2852928" cy="0"/>
          </a:xfrm>
          <a:prstGeom prst="straightConnector1">
            <a:avLst/>
          </a:prstGeom>
          <a:noFill/>
          <a:ln cap="flat" cmpd="sng" w="9525">
            <a:solidFill>
              <a:srgbClr val="FF5C6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9"/>
          <p:cNvSpPr/>
          <p:nvPr/>
        </p:nvSpPr>
        <p:spPr>
          <a:xfrm>
            <a:off x="8430768" y="4800600"/>
            <a:ext cx="2907792" cy="603504"/>
          </a:xfrm>
          <a:prstGeom prst="roundRect">
            <a:avLst>
              <a:gd fmla="val 16667" name="adj"/>
            </a:avLst>
          </a:prstGeom>
          <a:solidFill>
            <a:srgbClr val="063332">
              <a:alpha val="92157"/>
            </a:srgbClr>
          </a:solidFill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8604504" y="4956048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4854" y="5016398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/>
          <p:nvPr/>
        </p:nvSpPr>
        <p:spPr>
          <a:xfrm>
            <a:off x="9043416" y="49103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MITIGAÇÃO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9043416" y="5148072"/>
            <a:ext cx="20574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40"/>
              <a:buFont typeface="Arial"/>
              <a:buNone/>
            </a:pPr>
            <a:r>
              <a:rPr i="0" lang="en-US" sz="6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Organizar fotos, avaliações, cases e diferenciais para fortalecer confiança.</a:t>
            </a:r>
            <a:endParaRPr i="0" sz="6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4" name="Google Shape;384;p10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10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86" name="Google Shape;386;p10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0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48640" y="10972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4100"/>
              <a:buFont typeface="Play"/>
              <a:buNone/>
            </a:pPr>
            <a:r>
              <a:rPr i="0" lang="en-US" sz="41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Cronograma do </a:t>
            </a:r>
            <a:r>
              <a:rPr i="0" lang="en-US" sz="41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projeto</a:t>
            </a:r>
            <a:r>
              <a:rPr i="0" lang="en-US" sz="41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4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66928" y="22128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 dias de estruturação inicial e acompanhamento mensal contínuo.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7178040" y="1234440"/>
            <a:ext cx="4069080" cy="1005840"/>
          </a:xfrm>
          <a:prstGeom prst="roundRect">
            <a:avLst>
              <a:gd fmla="val 16667" name="adj"/>
            </a:avLst>
          </a:prstGeom>
          <a:solidFill>
            <a:srgbClr val="092729">
              <a:alpha val="87059"/>
            </a:srgbClr>
          </a:solidFill>
          <a:ln cap="flat" cmpd="sng" w="12700">
            <a:solidFill>
              <a:srgbClr val="08F7F7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7452360" y="1481328"/>
            <a:ext cx="530352" cy="53035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9037" y="1598005"/>
            <a:ext cx="296997" cy="29699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0"/>
          <p:cNvSpPr/>
          <p:nvPr/>
        </p:nvSpPr>
        <p:spPr>
          <a:xfrm>
            <a:off x="8275320" y="148132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estimado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8275320" y="181051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 dias iniciais</a:t>
            </a:r>
            <a:endParaRPr i="0" sz="2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66928" y="2907792"/>
            <a:ext cx="10652760" cy="502920"/>
          </a:xfrm>
          <a:prstGeom prst="roundRect">
            <a:avLst>
              <a:gd fmla="val 16667" name="adj"/>
            </a:avLst>
          </a:prstGeom>
          <a:solidFill>
            <a:srgbClr val="0B1D24">
              <a:alpha val="85098"/>
            </a:srgbClr>
          </a:solidFill>
          <a:ln cap="flat" cmpd="sng" w="12700">
            <a:solidFill>
              <a:srgbClr val="08F7F7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1188720" y="3099816"/>
            <a:ext cx="19202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Implementação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800600" y="2907792"/>
            <a:ext cx="402336" cy="502920"/>
          </a:xfrm>
          <a:prstGeom prst="chevron">
            <a:avLst>
              <a:gd fmla="val 50000" name="adj"/>
            </a:avLst>
          </a:prstGeom>
          <a:solidFill>
            <a:srgbClr val="0B1D24"/>
          </a:solidFill>
          <a:ln cap="flat" cmpd="sng" w="10150">
            <a:solidFill>
              <a:srgbClr val="08F7F7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6675120" y="3099816"/>
            <a:ext cx="228600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Acompanhamento mensal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00" name="Google Shape;400;p10"/>
          <p:cNvCxnSpPr/>
          <p:nvPr/>
        </p:nvCxnSpPr>
        <p:spPr>
          <a:xfrm>
            <a:off x="914400" y="4160520"/>
            <a:ext cx="9829800" cy="0"/>
          </a:xfrm>
          <a:prstGeom prst="straightConnector1">
            <a:avLst/>
          </a:prstGeom>
          <a:noFill/>
          <a:ln cap="flat" cmpd="sng" w="152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10"/>
          <p:cNvSpPr/>
          <p:nvPr/>
        </p:nvSpPr>
        <p:spPr>
          <a:xfrm>
            <a:off x="1298448" y="4005072"/>
            <a:ext cx="237744" cy="237744"/>
          </a:xfrm>
          <a:prstGeom prst="ellipse">
            <a:avLst/>
          </a:prstGeom>
          <a:solidFill>
            <a:srgbClr val="071316"/>
          </a:solidFill>
          <a:ln cap="flat" cmpd="sng" w="16500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2" name="Google Shape;402;p10"/>
          <p:cNvCxnSpPr/>
          <p:nvPr/>
        </p:nvCxnSpPr>
        <p:spPr>
          <a:xfrm>
            <a:off x="1417320" y="4233672"/>
            <a:ext cx="0" cy="411480"/>
          </a:xfrm>
          <a:prstGeom prst="straightConnector1">
            <a:avLst/>
          </a:prstGeom>
          <a:noFill/>
          <a:ln cap="flat" cmpd="sng" w="1015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0"/>
          <p:cNvSpPr/>
          <p:nvPr/>
        </p:nvSpPr>
        <p:spPr>
          <a:xfrm>
            <a:off x="566928" y="4617720"/>
            <a:ext cx="1938528" cy="1024128"/>
          </a:xfrm>
          <a:prstGeom prst="roundRect">
            <a:avLst>
              <a:gd fmla="val 16667" name="adj"/>
            </a:avLst>
          </a:prstGeom>
          <a:solidFill>
            <a:srgbClr val="092729">
              <a:alpha val="8117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722376" y="4800600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Semana 1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722376" y="5102352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i="0" lang="en-US" sz="10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Diagnóstico e acessos</a:t>
            </a:r>
            <a:endParaRPr i="0" sz="10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722376" y="540410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Levantamento dos ativos, públicos, regiões e proposta de comunicação.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3511296" y="4005072"/>
            <a:ext cx="237744" cy="237744"/>
          </a:xfrm>
          <a:prstGeom prst="ellipse">
            <a:avLst/>
          </a:prstGeom>
          <a:solidFill>
            <a:srgbClr val="071316"/>
          </a:solidFill>
          <a:ln cap="flat" cmpd="sng" w="16500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8" name="Google Shape;408;p10"/>
          <p:cNvCxnSpPr/>
          <p:nvPr/>
        </p:nvCxnSpPr>
        <p:spPr>
          <a:xfrm>
            <a:off x="3630168" y="4233672"/>
            <a:ext cx="0" cy="411480"/>
          </a:xfrm>
          <a:prstGeom prst="straightConnector1">
            <a:avLst/>
          </a:prstGeom>
          <a:noFill/>
          <a:ln cap="flat" cmpd="sng" w="1015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10"/>
          <p:cNvSpPr/>
          <p:nvPr/>
        </p:nvSpPr>
        <p:spPr>
          <a:xfrm>
            <a:off x="2779776" y="4617720"/>
            <a:ext cx="1938528" cy="1024128"/>
          </a:xfrm>
          <a:prstGeom prst="roundRect">
            <a:avLst>
              <a:gd fmla="val 16667" name="adj"/>
            </a:avLst>
          </a:prstGeom>
          <a:solidFill>
            <a:srgbClr val="092729">
              <a:alpha val="8117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2935224" y="4800600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Semana 2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2935224" y="5102352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i="0" lang="en-US" sz="10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Landing e Google</a:t>
            </a:r>
            <a:endParaRPr i="0" sz="10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935224" y="540410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Estruturação da página de captação e otimização do Google Business.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5724144" y="4005072"/>
            <a:ext cx="237744" cy="237744"/>
          </a:xfrm>
          <a:prstGeom prst="ellipse">
            <a:avLst/>
          </a:prstGeom>
          <a:solidFill>
            <a:srgbClr val="071316"/>
          </a:solidFill>
          <a:ln cap="flat" cmpd="sng" w="16500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4" name="Google Shape;414;p10"/>
          <p:cNvCxnSpPr/>
          <p:nvPr/>
        </p:nvCxnSpPr>
        <p:spPr>
          <a:xfrm>
            <a:off x="5843016" y="4233672"/>
            <a:ext cx="0" cy="411480"/>
          </a:xfrm>
          <a:prstGeom prst="straightConnector1">
            <a:avLst/>
          </a:prstGeom>
          <a:noFill/>
          <a:ln cap="flat" cmpd="sng" w="1015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0"/>
          <p:cNvSpPr/>
          <p:nvPr/>
        </p:nvSpPr>
        <p:spPr>
          <a:xfrm>
            <a:off x="4992624" y="4617720"/>
            <a:ext cx="1938528" cy="1024128"/>
          </a:xfrm>
          <a:prstGeom prst="roundRect">
            <a:avLst>
              <a:gd fmla="val 16667" name="adj"/>
            </a:avLst>
          </a:prstGeom>
          <a:solidFill>
            <a:srgbClr val="092729">
              <a:alpha val="8117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5148072" y="4800600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Semana 3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5148072" y="5102352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i="0" lang="en-US" sz="10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Conteúdo e campanhas</a:t>
            </a:r>
            <a:endParaRPr i="0" sz="10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5148072" y="540410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Calendário inicial, criativos, públicos e configuração das campanhas.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7936992" y="4005072"/>
            <a:ext cx="237744" cy="237744"/>
          </a:xfrm>
          <a:prstGeom prst="ellipse">
            <a:avLst/>
          </a:prstGeom>
          <a:solidFill>
            <a:srgbClr val="071316"/>
          </a:solidFill>
          <a:ln cap="flat" cmpd="sng" w="16500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0" name="Google Shape;420;p10"/>
          <p:cNvCxnSpPr/>
          <p:nvPr/>
        </p:nvCxnSpPr>
        <p:spPr>
          <a:xfrm>
            <a:off x="8055864" y="4233672"/>
            <a:ext cx="0" cy="411480"/>
          </a:xfrm>
          <a:prstGeom prst="straightConnector1">
            <a:avLst/>
          </a:prstGeom>
          <a:noFill/>
          <a:ln cap="flat" cmpd="sng" w="1015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10"/>
          <p:cNvSpPr/>
          <p:nvPr/>
        </p:nvSpPr>
        <p:spPr>
          <a:xfrm>
            <a:off x="7205472" y="4617720"/>
            <a:ext cx="1938528" cy="1024128"/>
          </a:xfrm>
          <a:prstGeom prst="roundRect">
            <a:avLst>
              <a:gd fmla="val 16667" name="adj"/>
            </a:avLst>
          </a:prstGeom>
          <a:solidFill>
            <a:srgbClr val="092729">
              <a:alpha val="8117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7360920" y="4800600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Semana 4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7360920" y="5102352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i="0" lang="en-US" sz="10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Go-live e ajustes</a:t>
            </a:r>
            <a:endParaRPr i="0" sz="10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7360920" y="540410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Ativação, acompanhamento inicial e correções de rota.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10149840" y="4005072"/>
            <a:ext cx="237744" cy="237744"/>
          </a:xfrm>
          <a:prstGeom prst="ellipse">
            <a:avLst/>
          </a:prstGeom>
          <a:solidFill>
            <a:srgbClr val="071316"/>
          </a:solidFill>
          <a:ln cap="flat" cmpd="sng" w="16500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6" name="Google Shape;426;p10"/>
          <p:cNvCxnSpPr/>
          <p:nvPr/>
        </p:nvCxnSpPr>
        <p:spPr>
          <a:xfrm>
            <a:off x="10268712" y="4233672"/>
            <a:ext cx="0" cy="411480"/>
          </a:xfrm>
          <a:prstGeom prst="straightConnector1">
            <a:avLst/>
          </a:prstGeom>
          <a:noFill/>
          <a:ln cap="flat" cmpd="sng" w="1015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0"/>
          <p:cNvSpPr/>
          <p:nvPr/>
        </p:nvSpPr>
        <p:spPr>
          <a:xfrm>
            <a:off x="9418320" y="4617720"/>
            <a:ext cx="1938528" cy="1024128"/>
          </a:xfrm>
          <a:prstGeom prst="roundRect">
            <a:avLst>
              <a:gd fmla="val 16667" name="adj"/>
            </a:avLst>
          </a:prstGeom>
          <a:solidFill>
            <a:srgbClr val="092729">
              <a:alpha val="8117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9573768" y="4800600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Contínuo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9573768" y="5102352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80"/>
              <a:buFont typeface="Arial"/>
              <a:buNone/>
            </a:pPr>
            <a:r>
              <a:rPr i="0" lang="en-US" sz="10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Otimização mensal</a:t>
            </a:r>
            <a:endParaRPr i="0" sz="10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9573768" y="540410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Análise de dados, conteúdo, mídia e qualidade dos leads.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0" name="Google Shape;440;p11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1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42" name="Google Shape;442;p11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11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530352" y="91440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800"/>
              <a:buFont typeface="Play"/>
              <a:buNone/>
            </a:pPr>
            <a:r>
              <a:rPr i="0" lang="en-US" sz="3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Investimento e </a:t>
            </a:r>
            <a:r>
              <a:rPr i="0" lang="en-US" sz="38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condições</a:t>
            </a:r>
            <a:r>
              <a:rPr i="0" lang="en-US" sz="3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i="0" sz="3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566928" y="1865376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Separação clara entre gestão Avraham e verba de anúncios paga às plataformas.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566928" y="2606040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VOCÊ RECEBE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566928" y="2880360"/>
            <a:ext cx="2514600" cy="384048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658368" y="2944368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0" name="Google Shape;4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695" y="3000695"/>
            <a:ext cx="143378" cy="143378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1"/>
          <p:cNvSpPr/>
          <p:nvPr/>
        </p:nvSpPr>
        <p:spPr>
          <a:xfrm>
            <a:off x="1069848" y="3035808"/>
            <a:ext cx="173736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0"/>
              <a:buFont typeface="Arial"/>
              <a:buNone/>
            </a:pPr>
            <a:r>
              <a:rPr i="0" lang="en-US" sz="8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Tráfego pago</a:t>
            </a:r>
            <a:endParaRPr i="0" sz="8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310128" y="2880360"/>
            <a:ext cx="2514600" cy="384048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3401568" y="2944368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4" name="Google Shape;4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895" y="3000695"/>
            <a:ext cx="143378" cy="14337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1"/>
          <p:cNvSpPr/>
          <p:nvPr/>
        </p:nvSpPr>
        <p:spPr>
          <a:xfrm>
            <a:off x="3813048" y="3035808"/>
            <a:ext cx="173736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0"/>
              <a:buFont typeface="Arial"/>
              <a:buNone/>
            </a:pPr>
            <a:r>
              <a:rPr i="0" lang="en-US" sz="8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media</a:t>
            </a:r>
            <a:endParaRPr i="0" sz="8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566928" y="3374136"/>
            <a:ext cx="2514600" cy="384048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658368" y="3438144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8" name="Google Shape;45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695" y="3494471"/>
            <a:ext cx="143378" cy="143378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1"/>
          <p:cNvSpPr/>
          <p:nvPr/>
        </p:nvSpPr>
        <p:spPr>
          <a:xfrm>
            <a:off x="1069848" y="3529584"/>
            <a:ext cx="173736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0"/>
              <a:buFont typeface="Arial"/>
              <a:buNone/>
            </a:pPr>
            <a:r>
              <a:rPr i="0" lang="en-US" sz="8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Landing page</a:t>
            </a:r>
            <a:endParaRPr i="0" sz="8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3310128" y="3374136"/>
            <a:ext cx="2514600" cy="384048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3401568" y="3438144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57895" y="3494471"/>
            <a:ext cx="143378" cy="14337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1"/>
          <p:cNvSpPr/>
          <p:nvPr/>
        </p:nvSpPr>
        <p:spPr>
          <a:xfrm>
            <a:off x="3813048" y="3529584"/>
            <a:ext cx="173736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0"/>
              <a:buFont typeface="Arial"/>
              <a:buNone/>
            </a:pPr>
            <a:r>
              <a:rPr i="0" lang="en-US" sz="8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Business</a:t>
            </a:r>
            <a:endParaRPr i="0" sz="8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566928" y="3867912"/>
            <a:ext cx="2514600" cy="384048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658368" y="3931920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6" name="Google Shape;46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695" y="3988247"/>
            <a:ext cx="143378" cy="14337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1"/>
          <p:cNvSpPr/>
          <p:nvPr/>
        </p:nvSpPr>
        <p:spPr>
          <a:xfrm>
            <a:off x="1069848" y="4023360"/>
            <a:ext cx="173736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0"/>
              <a:buFont typeface="Arial"/>
              <a:buNone/>
            </a:pPr>
            <a:r>
              <a:rPr i="0" lang="en-US" sz="8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Ajustes no site</a:t>
            </a:r>
            <a:endParaRPr i="0" sz="8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3310128" y="3867912"/>
            <a:ext cx="2514600" cy="384048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3401568" y="3931920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57895" y="3988247"/>
            <a:ext cx="143378" cy="143378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1"/>
          <p:cNvSpPr/>
          <p:nvPr/>
        </p:nvSpPr>
        <p:spPr>
          <a:xfrm>
            <a:off x="3813048" y="4023360"/>
            <a:ext cx="173736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0"/>
              <a:buFont typeface="Arial"/>
              <a:buNone/>
            </a:pPr>
            <a:r>
              <a:rPr i="0" lang="en-US" sz="83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Otimização mensal</a:t>
            </a:r>
            <a:endParaRPr i="0" sz="83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566928" y="46451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CONDIÇÕES DE PAGAMENTO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566928" y="4919472"/>
            <a:ext cx="5257800" cy="42062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77240" y="5074920"/>
            <a:ext cx="14630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60"/>
              <a:buFont typeface="Arial"/>
              <a:buNone/>
            </a:pPr>
            <a:r>
              <a:rPr i="0" lang="en-US" sz="86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Mensalidade Avraham</a:t>
            </a:r>
            <a:endParaRPr i="0" sz="86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4187952" y="5074920"/>
            <a:ext cx="1280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39"/>
              <a:buFont typeface="Arial"/>
              <a:buNone/>
            </a:pPr>
            <a:r>
              <a:rPr i="0" lang="en-US" sz="94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R$ 4.500/mês</a:t>
            </a:r>
            <a:endParaRPr i="0" sz="9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566928" y="5468112"/>
            <a:ext cx="5257800" cy="420624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777240" y="5623560"/>
            <a:ext cx="19202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60"/>
              <a:buFont typeface="Arial"/>
              <a:buNone/>
            </a:pPr>
            <a:r>
              <a:rPr i="0" lang="en-US" sz="86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Verba de mídia recomendada</a:t>
            </a:r>
            <a:endParaRPr i="0" sz="86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3337560" y="5623560"/>
            <a:ext cx="21488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939"/>
              <a:buFont typeface="Arial"/>
              <a:buNone/>
            </a:pPr>
            <a:r>
              <a:rPr i="0" lang="en-US" sz="94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R$ 1.500 a R$ 3.000/mês</a:t>
            </a:r>
            <a:endParaRPr i="0" sz="9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6263640" y="1097280"/>
            <a:ext cx="4983480" cy="2011680"/>
          </a:xfrm>
          <a:prstGeom prst="roundRect">
            <a:avLst>
              <a:gd fmla="val 16667" name="adj"/>
            </a:avLst>
          </a:prstGeom>
          <a:solidFill>
            <a:srgbClr val="092729">
              <a:alpha val="87843"/>
            </a:srgbClr>
          </a:solidFill>
          <a:ln cap="flat" cmpd="sng" w="12700">
            <a:solidFill>
              <a:srgbClr val="08F7F7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6565392" y="13898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INVESTIMENTO AVRAHAM DIGITAL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6565392" y="18745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700"/>
              <a:buFont typeface="Arial"/>
              <a:buNone/>
            </a:pPr>
            <a:r>
              <a:rPr i="0" lang="en-US" sz="27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R$ 4.500/mês</a:t>
            </a:r>
            <a:endParaRPr i="0" sz="2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6583680" y="2487168"/>
            <a:ext cx="3611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Gestão integrada de tráfego, conteúdo, conversão e otimização.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6263640" y="3429000"/>
            <a:ext cx="4983480" cy="1645920"/>
          </a:xfrm>
          <a:prstGeom prst="roundRect">
            <a:avLst>
              <a:gd fmla="val 16667" name="adj"/>
            </a:avLst>
          </a:prstGeom>
          <a:solidFill>
            <a:srgbClr val="0C1B25">
              <a:alpha val="92157"/>
            </a:srgbClr>
          </a:solidFill>
          <a:ln cap="flat" cmpd="sng" w="12700">
            <a:solidFill>
              <a:srgbClr val="486073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6565392" y="3730752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7FF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FD7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MÍDIA PAGA PELO CLIENTE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6583680" y="41605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R$ 1.500 a R$ 3.000/mês</a:t>
            </a:r>
            <a:endParaRPr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6601968" y="4535424"/>
            <a:ext cx="3429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 destinado diretamente às plataformas de anúncios.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6263640" y="5349240"/>
            <a:ext cx="4983480" cy="310896"/>
          </a:xfrm>
          <a:prstGeom prst="roundRect">
            <a:avLst>
              <a:gd fmla="val 16667" name="adj"/>
            </a:avLst>
          </a:prstGeom>
          <a:solidFill>
            <a:srgbClr val="0B1D24">
              <a:alpha val="72157"/>
            </a:srgbClr>
          </a:solidFill>
          <a:ln cap="flat" cmpd="sng" w="12700">
            <a:solidFill>
              <a:srgbClr val="08F7F7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6318504" y="5431536"/>
            <a:ext cx="13075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Cenário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7735824" y="5431536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Gestão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8878824" y="5431536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Mídia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10021824" y="5431536"/>
            <a:ext cx="11704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6263640" y="5742432"/>
            <a:ext cx="4983480" cy="347472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6318504" y="5824728"/>
            <a:ext cx="13075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Inicial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7735824" y="5824728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R$ 4.500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8878824" y="5824728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R$ 1.500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10021824" y="5824728"/>
            <a:ext cx="11704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R$ 6.000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6263640" y="6172200"/>
            <a:ext cx="4983480" cy="347472"/>
          </a:xfrm>
          <a:prstGeom prst="roundRect">
            <a:avLst>
              <a:gd fmla="val 16667" name="adj"/>
            </a:avLst>
          </a:prstGeom>
          <a:solidFill>
            <a:srgbClr val="092729">
              <a:alpha val="80000"/>
            </a:srgbClr>
          </a:solidFill>
          <a:ln cap="flat" cmpd="sng" w="12700">
            <a:solidFill>
              <a:srgbClr val="08F7F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6318504" y="6254496"/>
            <a:ext cx="13075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Recomendado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7735824" y="6254496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R$ 4.500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8878824" y="6254496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R$ 3.000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10021824" y="6254496"/>
            <a:ext cx="117043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39"/>
              <a:buFont typeface="Arial"/>
              <a:buNone/>
            </a:pPr>
            <a:r>
              <a:rPr i="0" lang="en-US" sz="84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R$ 7.500</a:t>
            </a:r>
            <a:endParaRPr i="0" sz="84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16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6"/>
          </a:solidFill>
          <a:ln cap="flat" cmpd="sng" w="12700">
            <a:solidFill>
              <a:srgbClr val="07131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530352" y="3657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500"/>
              <a:buFont typeface="Play"/>
              <a:buNone/>
            </a:pPr>
            <a:r>
              <a:rPr i="0" lang="en-US" sz="15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</a:t>
            </a:r>
            <a:endParaRPr i="0" sz="1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530352" y="54864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• Estratégia Comercial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320040" y="393192"/>
            <a:ext cx="256032" cy="256032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71316">
              <a:alpha val="0"/>
            </a:srgbClr>
          </a:solidFill>
          <a:ln cap="flat" cmpd="sng" w="1905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1" name="Google Shape;511;p12"/>
          <p:cNvCxnSpPr/>
          <p:nvPr/>
        </p:nvCxnSpPr>
        <p:spPr>
          <a:xfrm>
            <a:off x="11173968" y="338328"/>
            <a:ext cx="0" cy="256032"/>
          </a:xfrm>
          <a:prstGeom prst="straightConnector1">
            <a:avLst/>
          </a:prstGeom>
          <a:noFill/>
          <a:ln cap="flat" cmpd="sng" w="114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12"/>
          <p:cNvSpPr/>
          <p:nvPr/>
        </p:nvSpPr>
        <p:spPr>
          <a:xfrm>
            <a:off x="11365992" y="347472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10/10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513" name="Google Shape;513;p12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08F7F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12"/>
          <p:cNvSpPr/>
          <p:nvPr/>
        </p:nvSpPr>
        <p:spPr>
          <a:xfrm>
            <a:off x="502920" y="6547104"/>
            <a:ext cx="4480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confidencial • preparado para Voltix Energia Solar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10652760" y="6547104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Avraham Digital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566928" y="1280160"/>
            <a:ext cx="5577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4100"/>
              <a:buFont typeface="Play"/>
              <a:buNone/>
            </a:pPr>
            <a:r>
              <a:rPr i="0" lang="en-US" sz="41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Pronto para </a:t>
            </a:r>
            <a:r>
              <a:rPr i="0" lang="en-US" sz="41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começarmos</a:t>
            </a:r>
            <a:r>
              <a:rPr i="0" lang="en-US" sz="41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i="0" sz="4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594360" y="2377440"/>
            <a:ext cx="5715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partir da aprovação, iniciamos o kickoff, levantamento de acessos e organização da primeira etapa da operação.</a:t>
            </a:r>
            <a:endParaRPr i="0" sz="14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594360" y="327355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PRÓXIMOS PASSOS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594360" y="3611880"/>
            <a:ext cx="2057400" cy="804672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411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731520" y="3822192"/>
            <a:ext cx="320040" cy="320040"/>
          </a:xfrm>
          <a:prstGeom prst="ellipse">
            <a:avLst/>
          </a:prstGeom>
          <a:solidFill>
            <a:srgbClr val="071316">
              <a:alpha val="0"/>
            </a:srgbClr>
          </a:solidFill>
          <a:ln cap="flat" cmpd="sng" w="152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795528" y="3931920"/>
            <a:ext cx="182880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1188720" y="3776472"/>
            <a:ext cx="1234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Aprovação da proposta</a:t>
            </a:r>
            <a:endParaRPr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1188720" y="4069080"/>
            <a:ext cx="1234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00"/>
              <a:buFont typeface="Arial"/>
              <a:buNone/>
            </a:pPr>
            <a:r>
              <a:rPr i="0" lang="en-US" sz="70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Validação do escopo e investimento.</a:t>
            </a:r>
            <a:endParaRPr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2807208" y="3867912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3017520" y="3611880"/>
            <a:ext cx="2057400" cy="804672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411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3154680" y="3822192"/>
            <a:ext cx="320040" cy="320040"/>
          </a:xfrm>
          <a:prstGeom prst="ellipse">
            <a:avLst/>
          </a:prstGeom>
          <a:solidFill>
            <a:srgbClr val="071316">
              <a:alpha val="0"/>
            </a:srgbClr>
          </a:solidFill>
          <a:ln cap="flat" cmpd="sng" w="152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3218688" y="3931920"/>
            <a:ext cx="182880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3611880" y="3776472"/>
            <a:ext cx="1234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Kickoff e acessos</a:t>
            </a:r>
            <a:endParaRPr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3611880" y="4069080"/>
            <a:ext cx="1234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00"/>
              <a:buFont typeface="Arial"/>
              <a:buNone/>
            </a:pPr>
            <a:r>
              <a:rPr i="0" lang="en-US" sz="70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Coleta de acessos, materiais e informações.</a:t>
            </a:r>
            <a:endParaRPr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5230368" y="3867912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5440680" y="3611880"/>
            <a:ext cx="2057400" cy="804672"/>
          </a:xfrm>
          <a:prstGeom prst="roundRect">
            <a:avLst>
              <a:gd fmla="val 16667" name="adj"/>
            </a:avLst>
          </a:prstGeom>
          <a:solidFill>
            <a:srgbClr val="092729">
              <a:alpha val="81961"/>
            </a:srgbClr>
          </a:solidFill>
          <a:ln cap="flat" cmpd="sng" w="12700">
            <a:solidFill>
              <a:srgbClr val="08F7F7">
                <a:alpha val="7411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5577840" y="3822192"/>
            <a:ext cx="320040" cy="320040"/>
          </a:xfrm>
          <a:prstGeom prst="ellipse">
            <a:avLst/>
          </a:prstGeom>
          <a:solidFill>
            <a:srgbClr val="071316">
              <a:alpha val="0"/>
            </a:srgbClr>
          </a:solidFill>
          <a:ln cap="flat" cmpd="sng" w="15225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5641848" y="3931920"/>
            <a:ext cx="182880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750"/>
              <a:buFont typeface="Arial"/>
              <a:buNone/>
            </a:pPr>
            <a:r>
              <a:rPr i="0" lang="en-US" sz="75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6035040" y="3776472"/>
            <a:ext cx="1234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Operação no ar</a:t>
            </a:r>
            <a:endParaRPr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6035040" y="4069080"/>
            <a:ext cx="12344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00"/>
              <a:buFont typeface="Arial"/>
              <a:buNone/>
            </a:pPr>
            <a:r>
              <a:rPr i="0" lang="en-US" sz="70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Campanhas, página e acompanhamento inicial.</a:t>
            </a:r>
            <a:endParaRPr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594360" y="4846320"/>
            <a:ext cx="3611880" cy="530352"/>
          </a:xfrm>
          <a:prstGeom prst="roundRect">
            <a:avLst>
              <a:gd fmla="val 16667" name="adj"/>
            </a:avLst>
          </a:prstGeom>
          <a:solidFill>
            <a:srgbClr val="08F7F7"/>
          </a:solidFill>
          <a:ln cap="flat" cmpd="sng" w="12700">
            <a:solidFill>
              <a:srgbClr val="08F7F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868680" y="5029200"/>
            <a:ext cx="24231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C0F"/>
              </a:buClr>
              <a:buSzPts val="1280"/>
              <a:buFont typeface="Arial"/>
              <a:buNone/>
            </a:pPr>
            <a:r>
              <a:rPr i="0" lang="en-US" sz="1280" u="none" cap="none" strike="noStrike">
                <a:solidFill>
                  <a:srgbClr val="050C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Aceitar proposta e iniciar</a:t>
            </a:r>
            <a:endParaRPr i="0" sz="12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3794760" y="5010912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0C0F"/>
              </a:buClr>
              <a:buSzPts val="1700"/>
              <a:buFont typeface="Arial"/>
              <a:buNone/>
            </a:pPr>
            <a:r>
              <a:rPr i="0" lang="en-US" sz="1700" u="none" cap="none" strike="noStrike">
                <a:solidFill>
                  <a:srgbClr val="050C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4389120" y="4846320"/>
            <a:ext cx="3017520" cy="530352"/>
          </a:xfrm>
          <a:prstGeom prst="roundRect">
            <a:avLst>
              <a:gd fmla="val 16667" name="adj"/>
            </a:avLst>
          </a:prstGeom>
          <a:solidFill>
            <a:srgbClr val="092729">
              <a:alpha val="78039"/>
            </a:srgbClr>
          </a:solidFill>
          <a:ln cap="flat" cmpd="sng" w="12700">
            <a:solidFill>
              <a:srgbClr val="08F7F7">
                <a:alpha val="9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4791456" y="5029200"/>
            <a:ext cx="2194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220"/>
              <a:buFont typeface="Arial"/>
              <a:buNone/>
            </a:pPr>
            <a:r>
              <a:rPr i="0" lang="en-US" sz="122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Falar com a equipe</a:t>
            </a:r>
            <a:endParaRPr i="0" sz="12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594360" y="5596128"/>
            <a:ext cx="6812280" cy="457200"/>
          </a:xfrm>
          <a:prstGeom prst="roundRect">
            <a:avLst>
              <a:gd fmla="val 16667" name="adj"/>
            </a:avLst>
          </a:prstGeom>
          <a:solidFill>
            <a:srgbClr val="0B1D24">
              <a:alpha val="90196"/>
            </a:srgbClr>
          </a:solidFill>
          <a:ln cap="flat" cmpd="sng" w="12700">
            <a:solidFill>
              <a:srgbClr val="1B424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868680" y="5760720"/>
            <a:ext cx="1280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Responsável comercial: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2267712" y="5760720"/>
            <a:ext cx="10972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80"/>
              <a:buFont typeface="Arial"/>
              <a:buNone/>
            </a:pPr>
            <a:r>
              <a:rPr i="0" lang="en-US" sz="8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Higor Plens</a:t>
            </a:r>
            <a:endParaRPr i="0" sz="8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4069080" y="5760720"/>
            <a:ext cx="14630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WhatsApp: {{TELEFONE}}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5715000" y="5760720"/>
            <a:ext cx="114300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E-mail: {{EMAIL}}</a:t>
            </a:r>
            <a:endParaRPr i="0" sz="8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7909560" y="941832"/>
            <a:ext cx="2971800" cy="4526280"/>
          </a:xfrm>
          <a:prstGeom prst="roundRect">
            <a:avLst>
              <a:gd fmla="val 16667" name="adj"/>
            </a:avLst>
          </a:prstGeom>
          <a:solidFill>
            <a:srgbClr val="041012">
              <a:alpha val="96863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8183880" y="1225296"/>
            <a:ext cx="2423160" cy="3950208"/>
          </a:xfrm>
          <a:prstGeom prst="roundRect">
            <a:avLst>
              <a:gd fmla="val 16667" name="adj"/>
            </a:avLst>
          </a:prstGeom>
          <a:solidFill>
            <a:srgbClr val="050C0F"/>
          </a:solidFill>
          <a:ln cap="flat" cmpd="sng" w="12700">
            <a:solidFill>
              <a:srgbClr val="2B3F4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8641080" y="1463040"/>
            <a:ext cx="137160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80"/>
              <a:buFont typeface="Arial"/>
              <a:buNone/>
            </a:pPr>
            <a:r>
              <a:rPr i="0" lang="en-US" sz="7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Voltix Energia Solar</a:t>
            </a:r>
            <a:endParaRPr i="0" sz="7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8641080" y="1618488"/>
            <a:ext cx="100584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620"/>
              <a:buFont typeface="Arial"/>
              <a:buNone/>
            </a:pPr>
            <a:r>
              <a:rPr i="0" lang="en-US" sz="62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atendimento online</a:t>
            </a:r>
            <a:endParaRPr i="0" sz="6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8366760" y="1874520"/>
            <a:ext cx="1874520" cy="411480"/>
          </a:xfrm>
          <a:prstGeom prst="roundRect">
            <a:avLst>
              <a:gd fmla="val 16667" name="adj"/>
            </a:avLst>
          </a:prstGeom>
          <a:solidFill>
            <a:srgbClr val="142730"/>
          </a:solidFill>
          <a:ln cap="flat" cmpd="sng" w="12700">
            <a:solidFill>
              <a:srgbClr val="23434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8485632" y="2029968"/>
            <a:ext cx="15087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80"/>
              <a:buFont typeface="Arial"/>
              <a:buNone/>
            </a:pPr>
            <a:r>
              <a:rPr i="0" lang="en-US" sz="68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Olá, como posso ajudar?</a:t>
            </a:r>
            <a:endParaRPr i="0" sz="6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8439912" y="2487168"/>
            <a:ext cx="1737360" cy="228600"/>
          </a:xfrm>
          <a:prstGeom prst="roundRect">
            <a:avLst>
              <a:gd fmla="val 16667" name="adj"/>
            </a:avLst>
          </a:prstGeom>
          <a:solidFill>
            <a:srgbClr val="0B3234">
              <a:alpha val="9019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8613648" y="2551176"/>
            <a:ext cx="137160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620"/>
              <a:buFont typeface="Arial"/>
              <a:buNone/>
            </a:pPr>
            <a:r>
              <a:rPr i="0" lang="en-US" sz="62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Solicitar simulação</a:t>
            </a:r>
            <a:endParaRPr i="0" sz="6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8439912" y="2779776"/>
            <a:ext cx="1737360" cy="228600"/>
          </a:xfrm>
          <a:prstGeom prst="roundRect">
            <a:avLst>
              <a:gd fmla="val 16667" name="adj"/>
            </a:avLst>
          </a:prstGeom>
          <a:solidFill>
            <a:srgbClr val="0B3234">
              <a:alpha val="9019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8613648" y="2843784"/>
            <a:ext cx="137160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620"/>
              <a:buFont typeface="Arial"/>
              <a:buNone/>
            </a:pPr>
            <a:r>
              <a:rPr i="0" lang="en-US" sz="62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Tirar uma dúvida</a:t>
            </a:r>
            <a:endParaRPr i="0" sz="6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8439912" y="3072384"/>
            <a:ext cx="1737360" cy="228600"/>
          </a:xfrm>
          <a:prstGeom prst="roundRect">
            <a:avLst>
              <a:gd fmla="val 16667" name="adj"/>
            </a:avLst>
          </a:prstGeom>
          <a:solidFill>
            <a:srgbClr val="0B3234">
              <a:alpha val="90196"/>
            </a:srgbClr>
          </a:solidFill>
          <a:ln cap="flat" cmpd="sng" w="12700">
            <a:solidFill>
              <a:srgbClr val="08F7F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8613648" y="3136392"/>
            <a:ext cx="137160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620"/>
              <a:buFont typeface="Arial"/>
              <a:buNone/>
            </a:pPr>
            <a:r>
              <a:rPr i="0" lang="en-US" sz="62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Conhecer soluções</a:t>
            </a:r>
            <a:endParaRPr i="0" sz="6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8842248" y="3749040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005C55"/>
          </a:solidFill>
          <a:ln cap="flat" cmpd="sng" w="12700">
            <a:solidFill>
              <a:srgbClr val="005C5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8997696" y="3849624"/>
            <a:ext cx="1078992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590"/>
              <a:buFont typeface="Arial"/>
              <a:buNone/>
            </a:pPr>
            <a:r>
              <a:rPr i="0" lang="en-US" sz="59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Quero uma simulação.</a:t>
            </a:r>
            <a:endParaRPr i="0" sz="59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8366760" y="4279392"/>
            <a:ext cx="1901952" cy="384048"/>
          </a:xfrm>
          <a:prstGeom prst="roundRect">
            <a:avLst>
              <a:gd fmla="val 16667" name="adj"/>
            </a:avLst>
          </a:prstGeom>
          <a:solidFill>
            <a:srgbClr val="142730"/>
          </a:solidFill>
          <a:ln cap="flat" cmpd="sng" w="12700">
            <a:solidFill>
              <a:srgbClr val="23434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8485632" y="4407408"/>
            <a:ext cx="132588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620"/>
              <a:buFont typeface="Arial"/>
              <a:buNone/>
            </a:pPr>
            <a:r>
              <a:rPr i="0" lang="en-US" sz="620" u="none" cap="none" strike="noStrike">
                <a:solidFill>
                  <a:srgbClr val="F7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Perfeito. Vamos iniciar.</a:t>
            </a:r>
            <a:endParaRPr i="0" sz="62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8485632" y="5486400"/>
            <a:ext cx="2788920" cy="749808"/>
          </a:xfrm>
          <a:prstGeom prst="roundRect">
            <a:avLst>
              <a:gd fmla="val 16667" name="adj"/>
            </a:avLst>
          </a:prstGeom>
          <a:solidFill>
            <a:srgbClr val="092729">
              <a:alpha val="85882"/>
            </a:srgbClr>
          </a:solidFill>
          <a:ln cap="flat" cmpd="sng" w="12700">
            <a:solidFill>
              <a:srgbClr val="08F7F7">
                <a:alpha val="8196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8796528" y="5696712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0B1D24">
              <a:alpha val="92157"/>
            </a:srgbClr>
          </a:solidFill>
          <a:ln cap="flat" cmpd="sng" w="10150">
            <a:solidFill>
              <a:srgbClr val="08F7F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4" name="Google Shape;5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1019" y="5781203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2"/>
          <p:cNvSpPr/>
          <p:nvPr/>
        </p:nvSpPr>
        <p:spPr>
          <a:xfrm>
            <a:off x="9464040" y="5669280"/>
            <a:ext cx="15087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F7F7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8F7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Aquisição com método</a:t>
            </a:r>
            <a:endParaRPr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9464040" y="5934456"/>
            <a:ext cx="1508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4CE"/>
              </a:buClr>
              <a:buSzPts val="780"/>
              <a:buFont typeface="Arial"/>
              <a:buNone/>
            </a:pPr>
            <a:r>
              <a:rPr i="0" lang="en-US" sz="780" u="none" cap="none" strike="noStrike">
                <a:solidFill>
                  <a:srgbClr val="B9C4C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Mais presença, mais captação e mais clareza comercial.</a:t>
            </a:r>
            <a:endParaRPr i="0" sz="78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